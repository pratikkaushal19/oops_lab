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RoxboroughCF" charset="1" panose="00000500000000000000"/>
      <p:regular r:id="rId19"/>
    </p:embeddedFont>
    <p:embeddedFont>
      <p:font typeface="Montserrat" charset="1" panose="00000500000000000000"/>
      <p:regular r:id="rId20"/>
    </p:embeddedFont>
    <p:embeddedFont>
      <p:font typeface="Sorts Mill Goudy" charset="1" panose="02000503000000000000"/>
      <p:regular r:id="rId21"/>
    </p:embeddedFont>
    <p:embeddedFont>
      <p:font typeface="Canva Sans Bold" charset="1" panose="020B08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B492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273861" y="1664392"/>
            <a:ext cx="7112877" cy="7112877"/>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2"/>
              <a:stretch>
                <a:fillRect l="0" t="0" r="0" b="0"/>
              </a:stretch>
            </a:blipFill>
          </p:spPr>
        </p:sp>
        <p:sp>
          <p:nvSpPr>
            <p:cNvPr name="Freeform 4" id="4"/>
            <p:cNvSpPr/>
            <p:nvPr/>
          </p:nvSpPr>
          <p:spPr>
            <a:xfrm flipH="false" flipV="false" rot="0">
              <a:off x="0" y="0"/>
              <a:ext cx="6350000" cy="6350000"/>
            </a:xfrm>
            <a:custGeom>
              <a:avLst/>
              <a:gdLst/>
              <a:ahLst/>
              <a:cxnLst/>
              <a:rect r="r" b="b" t="t" l="l"/>
              <a:pathLst>
                <a:path h="6350000" w="6350000">
                  <a:moveTo>
                    <a:pt x="5715000" y="19050"/>
                  </a:moveTo>
                  <a:cubicBezTo>
                    <a:pt x="6054090" y="19050"/>
                    <a:pt x="6330950" y="295910"/>
                    <a:pt x="6330950" y="635000"/>
                  </a:cubicBezTo>
                  <a:lnTo>
                    <a:pt x="6330950" y="5715000"/>
                  </a:lnTo>
                  <a:cubicBezTo>
                    <a:pt x="6330950" y="6054090"/>
                    <a:pt x="6054090" y="6330950"/>
                    <a:pt x="5715000" y="6330950"/>
                  </a:cubicBezTo>
                  <a:lnTo>
                    <a:pt x="635000" y="6330950"/>
                  </a:lnTo>
                  <a:cubicBezTo>
                    <a:pt x="295910" y="6330950"/>
                    <a:pt x="19050" y="6054090"/>
                    <a:pt x="19050" y="5715000"/>
                  </a:cubicBezTo>
                  <a:lnTo>
                    <a:pt x="19050" y="635000"/>
                  </a:lnTo>
                  <a:cubicBezTo>
                    <a:pt x="19050" y="295910"/>
                    <a:pt x="295910" y="19050"/>
                    <a:pt x="635000" y="19050"/>
                  </a:cubicBezTo>
                  <a:lnTo>
                    <a:pt x="5715000" y="19050"/>
                  </a:lnTo>
                  <a:moveTo>
                    <a:pt x="5715000" y="0"/>
                  </a:moveTo>
                  <a:lnTo>
                    <a:pt x="635000" y="0"/>
                  </a:lnTo>
                  <a:cubicBezTo>
                    <a:pt x="284480" y="0"/>
                    <a:pt x="0" y="284480"/>
                    <a:pt x="0" y="635000"/>
                  </a:cubicBezTo>
                  <a:lnTo>
                    <a:pt x="0" y="5715000"/>
                  </a:lnTo>
                  <a:cubicBezTo>
                    <a:pt x="0" y="6065520"/>
                    <a:pt x="284480" y="6350000"/>
                    <a:pt x="635000" y="6350000"/>
                  </a:cubicBezTo>
                  <a:lnTo>
                    <a:pt x="5715000" y="6350000"/>
                  </a:lnTo>
                  <a:cubicBezTo>
                    <a:pt x="6065520" y="6350000"/>
                    <a:pt x="6350000" y="6065520"/>
                    <a:pt x="6350000" y="5715000"/>
                  </a:cubicBezTo>
                  <a:lnTo>
                    <a:pt x="6350000" y="635000"/>
                  </a:lnTo>
                  <a:cubicBezTo>
                    <a:pt x="6350000" y="284480"/>
                    <a:pt x="6065520" y="0"/>
                    <a:pt x="5715000" y="0"/>
                  </a:cubicBezTo>
                  <a:lnTo>
                    <a:pt x="5715000" y="0"/>
                  </a:lnTo>
                  <a:close/>
                </a:path>
              </a:pathLst>
            </a:custGeom>
            <a:solidFill>
              <a:srgbClr val="EFE7DD"/>
            </a:solidFill>
          </p:spPr>
        </p:sp>
      </p:grpSp>
      <p:sp>
        <p:nvSpPr>
          <p:cNvPr name="AutoShape 5" id="5"/>
          <p:cNvSpPr/>
          <p:nvPr/>
        </p:nvSpPr>
        <p:spPr>
          <a:xfrm>
            <a:off x="1351101" y="8767745"/>
            <a:ext cx="7869099" cy="0"/>
          </a:xfrm>
          <a:prstGeom prst="line">
            <a:avLst/>
          </a:prstGeom>
          <a:ln cap="flat" w="19050">
            <a:solidFill>
              <a:srgbClr val="EFE7DD"/>
            </a:solidFill>
            <a:prstDash val="solid"/>
            <a:headEnd type="none" len="sm" w="sm"/>
            <a:tailEnd type="none" len="sm" w="sm"/>
          </a:ln>
        </p:spPr>
      </p:sp>
      <p:sp>
        <p:nvSpPr>
          <p:cNvPr name="TextBox 6" id="6"/>
          <p:cNvSpPr txBox="true"/>
          <p:nvPr/>
        </p:nvSpPr>
        <p:spPr>
          <a:xfrm rot="0">
            <a:off x="1384300" y="5550381"/>
            <a:ext cx="7999490" cy="2980372"/>
          </a:xfrm>
          <a:prstGeom prst="rect">
            <a:avLst/>
          </a:prstGeom>
        </p:spPr>
        <p:txBody>
          <a:bodyPr anchor="t" rtlCol="false" tIns="0" lIns="0" bIns="0" rIns="0">
            <a:spAutoFit/>
          </a:bodyPr>
          <a:lstStyle/>
          <a:p>
            <a:pPr algn="l" marL="0" indent="0" lvl="0">
              <a:lnSpc>
                <a:spcPts val="7627"/>
              </a:lnSpc>
              <a:spcBef>
                <a:spcPct val="0"/>
              </a:spcBef>
            </a:pPr>
            <a:r>
              <a:rPr lang="en-US" sz="8475" spc="-169" strike="noStrike" u="none">
                <a:solidFill>
                  <a:srgbClr val="EFE7DD"/>
                </a:solidFill>
                <a:latin typeface="RoxboroughCF"/>
                <a:ea typeface="RoxboroughCF"/>
                <a:cs typeface="RoxboroughCF"/>
                <a:sym typeface="RoxboroughCF"/>
              </a:rPr>
              <a:t>INVENTORY MANAGEMENT SYSTEM</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9B4922"/>
        </a:solidFill>
      </p:bgPr>
    </p:bg>
    <p:spTree>
      <p:nvGrpSpPr>
        <p:cNvPr id="1" name=""/>
        <p:cNvGrpSpPr/>
        <p:nvPr/>
      </p:nvGrpSpPr>
      <p:grpSpPr>
        <a:xfrm>
          <a:off x="0" y="0"/>
          <a:ext cx="0" cy="0"/>
          <a:chOff x="0" y="0"/>
          <a:chExt cx="0" cy="0"/>
        </a:xfrm>
      </p:grpSpPr>
      <p:grpSp>
        <p:nvGrpSpPr>
          <p:cNvPr name="Group 2" id="2"/>
          <p:cNvGrpSpPr/>
          <p:nvPr/>
        </p:nvGrpSpPr>
        <p:grpSpPr>
          <a:xfrm rot="5400000">
            <a:off x="-638078" y="4448905"/>
            <a:ext cx="4722745" cy="1389189"/>
            <a:chOff x="0" y="0"/>
            <a:chExt cx="6296994" cy="1852253"/>
          </a:xfrm>
        </p:grpSpPr>
        <p:grpSp>
          <p:nvGrpSpPr>
            <p:cNvPr name="Group 3" id="3"/>
            <p:cNvGrpSpPr>
              <a:grpSpLocks noChangeAspect="true"/>
            </p:cNvGrpSpPr>
            <p:nvPr/>
          </p:nvGrpSpPr>
          <p:grpSpPr>
            <a:xfrm rot="-10800000">
              <a:off x="0" y="0"/>
              <a:ext cx="1848345" cy="1848345"/>
              <a:chOff x="0" y="0"/>
              <a:chExt cx="2653030" cy="2653030"/>
            </a:xfrm>
          </p:grpSpPr>
          <p:sp>
            <p:nvSpPr>
              <p:cNvPr name="Freeform 4" id="4"/>
              <p:cNvSpPr/>
              <p:nvPr/>
            </p:nvSpPr>
            <p:spPr>
              <a:xfrm flipH="false" flipV="false" rot="0">
                <a:off x="0" y="0"/>
                <a:ext cx="2653030" cy="2654300"/>
              </a:xfrm>
              <a:custGeom>
                <a:avLst/>
                <a:gdLst/>
                <a:ahLst/>
                <a:cxnLst/>
                <a:rect r="r" b="b" t="t" l="l"/>
                <a:pathLst>
                  <a:path h="2654300" w="2653030">
                    <a:moveTo>
                      <a:pt x="0" y="1535430"/>
                    </a:moveTo>
                    <a:lnTo>
                      <a:pt x="0" y="1463040"/>
                    </a:lnTo>
                    <a:lnTo>
                      <a:pt x="1463040" y="0"/>
                    </a:lnTo>
                    <a:lnTo>
                      <a:pt x="1535430" y="0"/>
                    </a:lnTo>
                    <a:lnTo>
                      <a:pt x="0" y="1535430"/>
                    </a:lnTo>
                    <a:close/>
                    <a:moveTo>
                      <a:pt x="1681480" y="0"/>
                    </a:moveTo>
                    <a:lnTo>
                      <a:pt x="1609090" y="0"/>
                    </a:lnTo>
                    <a:lnTo>
                      <a:pt x="0" y="1607820"/>
                    </a:lnTo>
                    <a:lnTo>
                      <a:pt x="0" y="1680210"/>
                    </a:lnTo>
                    <a:lnTo>
                      <a:pt x="1681480" y="0"/>
                    </a:lnTo>
                    <a:close/>
                    <a:moveTo>
                      <a:pt x="1390650" y="0"/>
                    </a:moveTo>
                    <a:lnTo>
                      <a:pt x="1318260" y="0"/>
                    </a:lnTo>
                    <a:lnTo>
                      <a:pt x="0" y="1318260"/>
                    </a:lnTo>
                    <a:lnTo>
                      <a:pt x="0" y="1390650"/>
                    </a:lnTo>
                    <a:lnTo>
                      <a:pt x="1390650" y="0"/>
                    </a:lnTo>
                    <a:close/>
                    <a:moveTo>
                      <a:pt x="1245870" y="0"/>
                    </a:moveTo>
                    <a:lnTo>
                      <a:pt x="1173480" y="0"/>
                    </a:lnTo>
                    <a:lnTo>
                      <a:pt x="0" y="1173480"/>
                    </a:lnTo>
                    <a:lnTo>
                      <a:pt x="0" y="1245870"/>
                    </a:lnTo>
                    <a:lnTo>
                      <a:pt x="1245870" y="0"/>
                    </a:lnTo>
                    <a:close/>
                    <a:moveTo>
                      <a:pt x="1826260" y="0"/>
                    </a:moveTo>
                    <a:lnTo>
                      <a:pt x="1753870" y="0"/>
                    </a:lnTo>
                    <a:lnTo>
                      <a:pt x="0" y="1753870"/>
                    </a:lnTo>
                    <a:lnTo>
                      <a:pt x="0" y="1826260"/>
                    </a:lnTo>
                    <a:lnTo>
                      <a:pt x="1826260" y="0"/>
                    </a:lnTo>
                    <a:close/>
                    <a:moveTo>
                      <a:pt x="2260600" y="0"/>
                    </a:moveTo>
                    <a:lnTo>
                      <a:pt x="2188210" y="0"/>
                    </a:lnTo>
                    <a:lnTo>
                      <a:pt x="0" y="2188210"/>
                    </a:lnTo>
                    <a:lnTo>
                      <a:pt x="0" y="2260600"/>
                    </a:lnTo>
                    <a:lnTo>
                      <a:pt x="2260600" y="0"/>
                    </a:lnTo>
                    <a:close/>
                    <a:moveTo>
                      <a:pt x="2551430" y="0"/>
                    </a:moveTo>
                    <a:lnTo>
                      <a:pt x="2479040" y="0"/>
                    </a:lnTo>
                    <a:lnTo>
                      <a:pt x="0" y="2479040"/>
                    </a:lnTo>
                    <a:lnTo>
                      <a:pt x="0" y="2551430"/>
                    </a:lnTo>
                    <a:lnTo>
                      <a:pt x="2551430" y="0"/>
                    </a:lnTo>
                    <a:close/>
                    <a:moveTo>
                      <a:pt x="2405380" y="0"/>
                    </a:moveTo>
                    <a:lnTo>
                      <a:pt x="2332990" y="0"/>
                    </a:lnTo>
                    <a:lnTo>
                      <a:pt x="0" y="2332990"/>
                    </a:lnTo>
                    <a:lnTo>
                      <a:pt x="0" y="2405380"/>
                    </a:lnTo>
                    <a:lnTo>
                      <a:pt x="2405380" y="0"/>
                    </a:lnTo>
                    <a:close/>
                    <a:moveTo>
                      <a:pt x="2115820" y="0"/>
                    </a:moveTo>
                    <a:lnTo>
                      <a:pt x="2043430" y="0"/>
                    </a:lnTo>
                    <a:lnTo>
                      <a:pt x="0" y="2043430"/>
                    </a:lnTo>
                    <a:lnTo>
                      <a:pt x="0" y="2115820"/>
                    </a:lnTo>
                    <a:lnTo>
                      <a:pt x="2115820" y="0"/>
                    </a:lnTo>
                    <a:close/>
                    <a:moveTo>
                      <a:pt x="375920" y="0"/>
                    </a:moveTo>
                    <a:lnTo>
                      <a:pt x="303530" y="0"/>
                    </a:lnTo>
                    <a:lnTo>
                      <a:pt x="0" y="303530"/>
                    </a:lnTo>
                    <a:lnTo>
                      <a:pt x="0" y="375920"/>
                    </a:lnTo>
                    <a:lnTo>
                      <a:pt x="375920" y="0"/>
                    </a:lnTo>
                    <a:close/>
                    <a:moveTo>
                      <a:pt x="1101090" y="0"/>
                    </a:moveTo>
                    <a:lnTo>
                      <a:pt x="1028700" y="0"/>
                    </a:lnTo>
                    <a:lnTo>
                      <a:pt x="0" y="1028700"/>
                    </a:lnTo>
                    <a:lnTo>
                      <a:pt x="0" y="1101090"/>
                    </a:lnTo>
                    <a:lnTo>
                      <a:pt x="1101090" y="0"/>
                    </a:lnTo>
                    <a:close/>
                    <a:moveTo>
                      <a:pt x="2653030" y="0"/>
                    </a:moveTo>
                    <a:lnTo>
                      <a:pt x="2623820" y="0"/>
                    </a:lnTo>
                    <a:lnTo>
                      <a:pt x="0" y="2623820"/>
                    </a:lnTo>
                    <a:lnTo>
                      <a:pt x="0" y="2653030"/>
                    </a:lnTo>
                    <a:lnTo>
                      <a:pt x="43180" y="2653030"/>
                    </a:lnTo>
                    <a:lnTo>
                      <a:pt x="2653030" y="43180"/>
                    </a:lnTo>
                    <a:lnTo>
                      <a:pt x="2653030" y="0"/>
                    </a:lnTo>
                    <a:close/>
                    <a:moveTo>
                      <a:pt x="520700" y="0"/>
                    </a:moveTo>
                    <a:lnTo>
                      <a:pt x="448310" y="0"/>
                    </a:lnTo>
                    <a:lnTo>
                      <a:pt x="0" y="448310"/>
                    </a:lnTo>
                    <a:lnTo>
                      <a:pt x="0" y="520700"/>
                    </a:lnTo>
                    <a:lnTo>
                      <a:pt x="520700" y="0"/>
                    </a:lnTo>
                    <a:close/>
                    <a:moveTo>
                      <a:pt x="85090" y="0"/>
                    </a:moveTo>
                    <a:lnTo>
                      <a:pt x="12700" y="0"/>
                    </a:lnTo>
                    <a:lnTo>
                      <a:pt x="0" y="12700"/>
                    </a:lnTo>
                    <a:lnTo>
                      <a:pt x="0" y="85090"/>
                    </a:lnTo>
                    <a:lnTo>
                      <a:pt x="85090" y="0"/>
                    </a:lnTo>
                    <a:close/>
                    <a:moveTo>
                      <a:pt x="231140" y="0"/>
                    </a:moveTo>
                    <a:lnTo>
                      <a:pt x="158750" y="0"/>
                    </a:lnTo>
                    <a:lnTo>
                      <a:pt x="0" y="157480"/>
                    </a:lnTo>
                    <a:lnTo>
                      <a:pt x="0" y="229870"/>
                    </a:lnTo>
                    <a:lnTo>
                      <a:pt x="231140" y="0"/>
                    </a:lnTo>
                    <a:close/>
                    <a:moveTo>
                      <a:pt x="0" y="956310"/>
                    </a:moveTo>
                    <a:lnTo>
                      <a:pt x="956310" y="0"/>
                    </a:lnTo>
                    <a:lnTo>
                      <a:pt x="883920" y="0"/>
                    </a:lnTo>
                    <a:lnTo>
                      <a:pt x="0" y="882650"/>
                    </a:lnTo>
                    <a:lnTo>
                      <a:pt x="0" y="956310"/>
                    </a:lnTo>
                    <a:close/>
                    <a:moveTo>
                      <a:pt x="665480" y="0"/>
                    </a:moveTo>
                    <a:lnTo>
                      <a:pt x="593090" y="0"/>
                    </a:lnTo>
                    <a:lnTo>
                      <a:pt x="0" y="593090"/>
                    </a:lnTo>
                    <a:lnTo>
                      <a:pt x="0" y="665480"/>
                    </a:lnTo>
                    <a:lnTo>
                      <a:pt x="665480" y="0"/>
                    </a:lnTo>
                    <a:close/>
                    <a:moveTo>
                      <a:pt x="810260" y="0"/>
                    </a:moveTo>
                    <a:lnTo>
                      <a:pt x="737870" y="0"/>
                    </a:lnTo>
                    <a:lnTo>
                      <a:pt x="0" y="737870"/>
                    </a:lnTo>
                    <a:lnTo>
                      <a:pt x="0" y="810260"/>
                    </a:lnTo>
                    <a:lnTo>
                      <a:pt x="810260" y="0"/>
                    </a:lnTo>
                    <a:close/>
                    <a:moveTo>
                      <a:pt x="1971040" y="0"/>
                    </a:moveTo>
                    <a:lnTo>
                      <a:pt x="1898650" y="0"/>
                    </a:lnTo>
                    <a:lnTo>
                      <a:pt x="0" y="1898650"/>
                    </a:lnTo>
                    <a:lnTo>
                      <a:pt x="0" y="1971040"/>
                    </a:lnTo>
                    <a:lnTo>
                      <a:pt x="1971040" y="0"/>
                    </a:lnTo>
                    <a:close/>
                    <a:moveTo>
                      <a:pt x="2653030" y="1783080"/>
                    </a:moveTo>
                    <a:lnTo>
                      <a:pt x="2653030" y="1710690"/>
                    </a:lnTo>
                    <a:lnTo>
                      <a:pt x="1710690" y="2653030"/>
                    </a:lnTo>
                    <a:lnTo>
                      <a:pt x="1783080" y="2653030"/>
                    </a:lnTo>
                    <a:lnTo>
                      <a:pt x="2653030" y="1783080"/>
                    </a:lnTo>
                    <a:close/>
                    <a:moveTo>
                      <a:pt x="2653030" y="1927860"/>
                    </a:moveTo>
                    <a:lnTo>
                      <a:pt x="2653030" y="1855470"/>
                    </a:lnTo>
                    <a:lnTo>
                      <a:pt x="1855470" y="2653030"/>
                    </a:lnTo>
                    <a:lnTo>
                      <a:pt x="1927860" y="2653030"/>
                    </a:lnTo>
                    <a:lnTo>
                      <a:pt x="2653030" y="1927860"/>
                    </a:lnTo>
                    <a:close/>
                    <a:moveTo>
                      <a:pt x="2653030" y="2072640"/>
                    </a:moveTo>
                    <a:lnTo>
                      <a:pt x="2653030" y="2000250"/>
                    </a:lnTo>
                    <a:lnTo>
                      <a:pt x="2000250" y="2653030"/>
                    </a:lnTo>
                    <a:lnTo>
                      <a:pt x="2072640" y="2653030"/>
                    </a:lnTo>
                    <a:lnTo>
                      <a:pt x="2653030" y="2072640"/>
                    </a:lnTo>
                    <a:close/>
                    <a:moveTo>
                      <a:pt x="2653030" y="1638300"/>
                    </a:moveTo>
                    <a:lnTo>
                      <a:pt x="2653030" y="1565910"/>
                    </a:lnTo>
                    <a:lnTo>
                      <a:pt x="1564640" y="2654300"/>
                    </a:lnTo>
                    <a:lnTo>
                      <a:pt x="1637030" y="2654300"/>
                    </a:lnTo>
                    <a:lnTo>
                      <a:pt x="2653030" y="1638300"/>
                    </a:lnTo>
                    <a:close/>
                    <a:moveTo>
                      <a:pt x="2217420" y="2653030"/>
                    </a:moveTo>
                    <a:lnTo>
                      <a:pt x="2653030" y="2217420"/>
                    </a:lnTo>
                    <a:lnTo>
                      <a:pt x="2653030" y="2145030"/>
                    </a:lnTo>
                    <a:lnTo>
                      <a:pt x="2145030" y="2653030"/>
                    </a:lnTo>
                    <a:lnTo>
                      <a:pt x="2217420" y="2653030"/>
                    </a:lnTo>
                    <a:close/>
                    <a:moveTo>
                      <a:pt x="2653030" y="2580640"/>
                    </a:moveTo>
                    <a:lnTo>
                      <a:pt x="2580640" y="2653030"/>
                    </a:lnTo>
                    <a:lnTo>
                      <a:pt x="2653030" y="2653030"/>
                    </a:lnTo>
                    <a:lnTo>
                      <a:pt x="2653030" y="2580640"/>
                    </a:lnTo>
                    <a:close/>
                    <a:moveTo>
                      <a:pt x="2653030" y="2508250"/>
                    </a:moveTo>
                    <a:lnTo>
                      <a:pt x="2653030" y="2435860"/>
                    </a:lnTo>
                    <a:lnTo>
                      <a:pt x="2435860" y="2653030"/>
                    </a:lnTo>
                    <a:lnTo>
                      <a:pt x="2508250" y="2653030"/>
                    </a:lnTo>
                    <a:lnTo>
                      <a:pt x="2653030" y="2508250"/>
                    </a:lnTo>
                    <a:close/>
                    <a:moveTo>
                      <a:pt x="2653030" y="2363470"/>
                    </a:moveTo>
                    <a:lnTo>
                      <a:pt x="2653030" y="2291080"/>
                    </a:lnTo>
                    <a:lnTo>
                      <a:pt x="2291080" y="2653030"/>
                    </a:lnTo>
                    <a:lnTo>
                      <a:pt x="2363470" y="2653030"/>
                    </a:lnTo>
                    <a:lnTo>
                      <a:pt x="2653030" y="2363470"/>
                    </a:lnTo>
                    <a:close/>
                    <a:moveTo>
                      <a:pt x="2653030" y="1492250"/>
                    </a:moveTo>
                    <a:lnTo>
                      <a:pt x="2653030" y="1419860"/>
                    </a:lnTo>
                    <a:lnTo>
                      <a:pt x="1419860" y="2653030"/>
                    </a:lnTo>
                    <a:lnTo>
                      <a:pt x="1492250" y="2653030"/>
                    </a:lnTo>
                    <a:lnTo>
                      <a:pt x="2653030" y="1492250"/>
                    </a:lnTo>
                    <a:close/>
                    <a:moveTo>
                      <a:pt x="2653030" y="187960"/>
                    </a:moveTo>
                    <a:lnTo>
                      <a:pt x="2653030" y="115570"/>
                    </a:lnTo>
                    <a:lnTo>
                      <a:pt x="115570" y="2653030"/>
                    </a:lnTo>
                    <a:lnTo>
                      <a:pt x="187960" y="2653030"/>
                    </a:lnTo>
                    <a:lnTo>
                      <a:pt x="2653030" y="187960"/>
                    </a:lnTo>
                    <a:close/>
                    <a:moveTo>
                      <a:pt x="2653030" y="622300"/>
                    </a:moveTo>
                    <a:lnTo>
                      <a:pt x="2653030" y="549910"/>
                    </a:lnTo>
                    <a:lnTo>
                      <a:pt x="549910" y="2653030"/>
                    </a:lnTo>
                    <a:lnTo>
                      <a:pt x="622300" y="2653030"/>
                    </a:lnTo>
                    <a:lnTo>
                      <a:pt x="2653030" y="622300"/>
                    </a:lnTo>
                    <a:close/>
                    <a:moveTo>
                      <a:pt x="2653030" y="477520"/>
                    </a:moveTo>
                    <a:lnTo>
                      <a:pt x="2653030" y="405130"/>
                    </a:lnTo>
                    <a:lnTo>
                      <a:pt x="405130" y="2653030"/>
                    </a:lnTo>
                    <a:lnTo>
                      <a:pt x="477520" y="2653030"/>
                    </a:lnTo>
                    <a:lnTo>
                      <a:pt x="2653030" y="477520"/>
                    </a:lnTo>
                    <a:close/>
                    <a:moveTo>
                      <a:pt x="2653030" y="1347470"/>
                    </a:moveTo>
                    <a:lnTo>
                      <a:pt x="2653030" y="1275080"/>
                    </a:lnTo>
                    <a:lnTo>
                      <a:pt x="1275080" y="2653030"/>
                    </a:lnTo>
                    <a:lnTo>
                      <a:pt x="1347470" y="2653030"/>
                    </a:lnTo>
                    <a:lnTo>
                      <a:pt x="2653030" y="1347470"/>
                    </a:lnTo>
                    <a:close/>
                    <a:moveTo>
                      <a:pt x="2653030" y="767080"/>
                    </a:moveTo>
                    <a:lnTo>
                      <a:pt x="2653030" y="694690"/>
                    </a:lnTo>
                    <a:lnTo>
                      <a:pt x="694690" y="2653030"/>
                    </a:lnTo>
                    <a:lnTo>
                      <a:pt x="767080" y="2653030"/>
                    </a:lnTo>
                    <a:lnTo>
                      <a:pt x="2653030" y="767080"/>
                    </a:lnTo>
                    <a:close/>
                    <a:moveTo>
                      <a:pt x="2653030" y="332740"/>
                    </a:moveTo>
                    <a:lnTo>
                      <a:pt x="2653030" y="260350"/>
                    </a:lnTo>
                    <a:lnTo>
                      <a:pt x="260350" y="2653030"/>
                    </a:lnTo>
                    <a:lnTo>
                      <a:pt x="332740" y="2653030"/>
                    </a:lnTo>
                    <a:lnTo>
                      <a:pt x="2653030" y="332740"/>
                    </a:lnTo>
                    <a:close/>
                    <a:moveTo>
                      <a:pt x="2653030" y="1202690"/>
                    </a:moveTo>
                    <a:lnTo>
                      <a:pt x="2653030" y="1130300"/>
                    </a:lnTo>
                    <a:lnTo>
                      <a:pt x="1130300" y="2653030"/>
                    </a:lnTo>
                    <a:lnTo>
                      <a:pt x="1202690" y="2653030"/>
                    </a:lnTo>
                    <a:lnTo>
                      <a:pt x="2653030" y="1202690"/>
                    </a:lnTo>
                    <a:close/>
                    <a:moveTo>
                      <a:pt x="2653030" y="913130"/>
                    </a:moveTo>
                    <a:lnTo>
                      <a:pt x="2653030" y="840740"/>
                    </a:lnTo>
                    <a:lnTo>
                      <a:pt x="840740" y="2653030"/>
                    </a:lnTo>
                    <a:lnTo>
                      <a:pt x="913130" y="2653030"/>
                    </a:lnTo>
                    <a:lnTo>
                      <a:pt x="2653030" y="913130"/>
                    </a:lnTo>
                    <a:close/>
                    <a:moveTo>
                      <a:pt x="2653030" y="1057910"/>
                    </a:moveTo>
                    <a:lnTo>
                      <a:pt x="2653030" y="985520"/>
                    </a:lnTo>
                    <a:lnTo>
                      <a:pt x="985520" y="2653030"/>
                    </a:lnTo>
                    <a:lnTo>
                      <a:pt x="1057910" y="2653030"/>
                    </a:lnTo>
                    <a:lnTo>
                      <a:pt x="2653030" y="1057910"/>
                    </a:lnTo>
                    <a:close/>
                  </a:path>
                </a:pathLst>
              </a:custGeom>
              <a:solidFill>
                <a:srgbClr val="B86239"/>
              </a:solidFill>
            </p:spPr>
          </p:sp>
        </p:grpSp>
        <p:sp>
          <p:nvSpPr>
            <p:cNvPr name="AutoShape 5" id="5"/>
            <p:cNvSpPr/>
            <p:nvPr/>
          </p:nvSpPr>
          <p:spPr>
            <a:xfrm rot="-10800000">
              <a:off x="4448649" y="7814"/>
              <a:ext cx="1848345" cy="1840531"/>
            </a:xfrm>
            <a:prstGeom prst="rect">
              <a:avLst/>
            </a:prstGeom>
            <a:solidFill>
              <a:srgbClr val="B86239"/>
            </a:solidFill>
          </p:spPr>
        </p:sp>
        <p:grpSp>
          <p:nvGrpSpPr>
            <p:cNvPr name="Group 6" id="6"/>
            <p:cNvGrpSpPr>
              <a:grpSpLocks noChangeAspect="true"/>
            </p:cNvGrpSpPr>
            <p:nvPr/>
          </p:nvGrpSpPr>
          <p:grpSpPr>
            <a:xfrm rot="-10800000">
              <a:off x="2224324" y="3907"/>
              <a:ext cx="1848345" cy="1848345"/>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B86239"/>
              </a:solidFill>
            </p:spPr>
          </p:sp>
        </p:grpSp>
      </p:grpSp>
      <p:grpSp>
        <p:nvGrpSpPr>
          <p:cNvPr name="Group 8" id="8"/>
          <p:cNvGrpSpPr/>
          <p:nvPr/>
        </p:nvGrpSpPr>
        <p:grpSpPr>
          <a:xfrm rot="0">
            <a:off x="3512702" y="2967366"/>
            <a:ext cx="13557206" cy="4352268"/>
            <a:chOff x="0" y="0"/>
            <a:chExt cx="18076275" cy="5803024"/>
          </a:xfrm>
        </p:grpSpPr>
        <p:sp>
          <p:nvSpPr>
            <p:cNvPr name="TextBox 9" id="9"/>
            <p:cNvSpPr txBox="true"/>
            <p:nvPr/>
          </p:nvSpPr>
          <p:spPr>
            <a:xfrm rot="0">
              <a:off x="0" y="-76200"/>
              <a:ext cx="18076275" cy="1751838"/>
            </a:xfrm>
            <a:prstGeom prst="rect">
              <a:avLst/>
            </a:prstGeom>
          </p:spPr>
          <p:txBody>
            <a:bodyPr anchor="t" rtlCol="false" tIns="0" lIns="0" bIns="0" rIns="0">
              <a:spAutoFit/>
            </a:bodyPr>
            <a:lstStyle/>
            <a:p>
              <a:pPr algn="l" marL="0" indent="0" lvl="0">
                <a:lnSpc>
                  <a:spcPts val="10783"/>
                </a:lnSpc>
              </a:pPr>
              <a:r>
                <a:rPr lang="en-US" sz="8294" spc="1327">
                  <a:solidFill>
                    <a:srgbClr val="EFE7DD"/>
                  </a:solidFill>
                  <a:latin typeface="Montserrat"/>
                  <a:ea typeface="Montserrat"/>
                  <a:cs typeface="Montserrat"/>
                  <a:sym typeface="Montserrat"/>
                </a:rPr>
                <a:t>TEAM MEMBERS</a:t>
              </a:r>
            </a:p>
          </p:txBody>
        </p:sp>
        <p:sp>
          <p:nvSpPr>
            <p:cNvPr name="TextBox 10" id="10"/>
            <p:cNvSpPr txBox="true"/>
            <p:nvPr/>
          </p:nvSpPr>
          <p:spPr>
            <a:xfrm rot="0">
              <a:off x="0" y="3075064"/>
              <a:ext cx="18076275" cy="2727960"/>
            </a:xfrm>
            <a:prstGeom prst="rect">
              <a:avLst/>
            </a:prstGeom>
          </p:spPr>
          <p:txBody>
            <a:bodyPr anchor="t" rtlCol="false" tIns="0" lIns="0" bIns="0" rIns="0">
              <a:spAutoFit/>
            </a:bodyPr>
            <a:lstStyle/>
            <a:p>
              <a:pPr algn="l" marL="0" indent="0" lvl="0">
                <a:lnSpc>
                  <a:spcPts val="4199"/>
                </a:lnSpc>
              </a:pPr>
              <a:r>
                <a:rPr lang="en-US" sz="2799" u="none">
                  <a:solidFill>
                    <a:srgbClr val="EFE7DD"/>
                  </a:solidFill>
                  <a:latin typeface="Sorts Mill Goudy"/>
                  <a:ea typeface="Sorts Mill Goudy"/>
                  <a:cs typeface="Sorts Mill Goudy"/>
                  <a:sym typeface="Sorts Mill Goudy"/>
                </a:rPr>
                <a:t>SAMARTH CHAND THAKURI</a:t>
              </a:r>
            </a:p>
            <a:p>
              <a:pPr algn="l" marL="0" indent="0" lvl="0">
                <a:lnSpc>
                  <a:spcPts val="4199"/>
                </a:lnSpc>
              </a:pPr>
              <a:r>
                <a:rPr lang="en-US" sz="2799" u="none">
                  <a:solidFill>
                    <a:srgbClr val="EFE7DD"/>
                  </a:solidFill>
                  <a:latin typeface="Sorts Mill Goudy"/>
                  <a:ea typeface="Sorts Mill Goudy"/>
                  <a:cs typeface="Sorts Mill Goudy"/>
                  <a:sym typeface="Sorts Mill Goudy"/>
                </a:rPr>
                <a:t>SHOURYA SHARMA</a:t>
              </a:r>
            </a:p>
            <a:p>
              <a:pPr algn="l" marL="0" indent="0" lvl="0">
                <a:lnSpc>
                  <a:spcPts val="4199"/>
                </a:lnSpc>
              </a:pPr>
              <a:r>
                <a:rPr lang="en-US" sz="2799" u="none">
                  <a:solidFill>
                    <a:srgbClr val="EFE7DD"/>
                  </a:solidFill>
                  <a:latin typeface="Sorts Mill Goudy"/>
                  <a:ea typeface="Sorts Mill Goudy"/>
                  <a:cs typeface="Sorts Mill Goudy"/>
                  <a:sym typeface="Sorts Mill Goudy"/>
                </a:rPr>
                <a:t>PRATIK KAUSHAL</a:t>
              </a:r>
            </a:p>
            <a:p>
              <a:pPr algn="l" marL="0" indent="0" lvl="0">
                <a:lnSpc>
                  <a:spcPts val="4199"/>
                </a:lnSpc>
              </a:pPr>
              <a:r>
                <a:rPr lang="en-US" sz="2799" u="none">
                  <a:solidFill>
                    <a:srgbClr val="EFE7DD"/>
                  </a:solidFill>
                  <a:latin typeface="Sorts Mill Goudy"/>
                  <a:ea typeface="Sorts Mill Goudy"/>
                  <a:cs typeface="Sorts Mill Goudy"/>
                  <a:sym typeface="Sorts Mill Goudy"/>
                </a:rPr>
                <a:t>Group-12</a:t>
              </a:r>
            </a:p>
          </p:txBody>
        </p:sp>
        <p:sp>
          <p:nvSpPr>
            <p:cNvPr name="AutoShape 11" id="11"/>
            <p:cNvSpPr/>
            <p:nvPr/>
          </p:nvSpPr>
          <p:spPr>
            <a:xfrm rot="0">
              <a:off x="0" y="2165974"/>
              <a:ext cx="1324627" cy="223120"/>
            </a:xfrm>
            <a:prstGeom prst="rect">
              <a:avLst/>
            </a:prstGeom>
            <a:solidFill>
              <a:srgbClr val="B86239"/>
            </a:solidFill>
          </p:spPr>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9B4922"/>
        </a:solidFill>
      </p:bgPr>
    </p:bg>
    <p:spTree>
      <p:nvGrpSpPr>
        <p:cNvPr id="1" name=""/>
        <p:cNvGrpSpPr/>
        <p:nvPr/>
      </p:nvGrpSpPr>
      <p:grpSpPr>
        <a:xfrm>
          <a:off x="0" y="0"/>
          <a:ext cx="0" cy="0"/>
          <a:chOff x="0" y="0"/>
          <a:chExt cx="0" cy="0"/>
        </a:xfrm>
      </p:grpSpPr>
      <p:grpSp>
        <p:nvGrpSpPr>
          <p:cNvPr name="Group 2" id="2"/>
          <p:cNvGrpSpPr/>
          <p:nvPr/>
        </p:nvGrpSpPr>
        <p:grpSpPr>
          <a:xfrm rot="5400000">
            <a:off x="-638078" y="4448905"/>
            <a:ext cx="4722745" cy="1389189"/>
            <a:chOff x="0" y="0"/>
            <a:chExt cx="6296994" cy="1852253"/>
          </a:xfrm>
        </p:grpSpPr>
        <p:grpSp>
          <p:nvGrpSpPr>
            <p:cNvPr name="Group 3" id="3"/>
            <p:cNvGrpSpPr>
              <a:grpSpLocks noChangeAspect="true"/>
            </p:cNvGrpSpPr>
            <p:nvPr/>
          </p:nvGrpSpPr>
          <p:grpSpPr>
            <a:xfrm rot="-10800000">
              <a:off x="0" y="0"/>
              <a:ext cx="1848345" cy="1848345"/>
              <a:chOff x="0" y="0"/>
              <a:chExt cx="2653030" cy="2653030"/>
            </a:xfrm>
          </p:grpSpPr>
          <p:sp>
            <p:nvSpPr>
              <p:cNvPr name="Freeform 4" id="4"/>
              <p:cNvSpPr/>
              <p:nvPr/>
            </p:nvSpPr>
            <p:spPr>
              <a:xfrm flipH="false" flipV="false" rot="0">
                <a:off x="0" y="0"/>
                <a:ext cx="2653030" cy="2654300"/>
              </a:xfrm>
              <a:custGeom>
                <a:avLst/>
                <a:gdLst/>
                <a:ahLst/>
                <a:cxnLst/>
                <a:rect r="r" b="b" t="t" l="l"/>
                <a:pathLst>
                  <a:path h="2654300" w="2653030">
                    <a:moveTo>
                      <a:pt x="0" y="1535430"/>
                    </a:moveTo>
                    <a:lnTo>
                      <a:pt x="0" y="1463040"/>
                    </a:lnTo>
                    <a:lnTo>
                      <a:pt x="1463040" y="0"/>
                    </a:lnTo>
                    <a:lnTo>
                      <a:pt x="1535430" y="0"/>
                    </a:lnTo>
                    <a:lnTo>
                      <a:pt x="0" y="1535430"/>
                    </a:lnTo>
                    <a:close/>
                    <a:moveTo>
                      <a:pt x="1681480" y="0"/>
                    </a:moveTo>
                    <a:lnTo>
                      <a:pt x="1609090" y="0"/>
                    </a:lnTo>
                    <a:lnTo>
                      <a:pt x="0" y="1607820"/>
                    </a:lnTo>
                    <a:lnTo>
                      <a:pt x="0" y="1680210"/>
                    </a:lnTo>
                    <a:lnTo>
                      <a:pt x="1681480" y="0"/>
                    </a:lnTo>
                    <a:close/>
                    <a:moveTo>
                      <a:pt x="1390650" y="0"/>
                    </a:moveTo>
                    <a:lnTo>
                      <a:pt x="1318260" y="0"/>
                    </a:lnTo>
                    <a:lnTo>
                      <a:pt x="0" y="1318260"/>
                    </a:lnTo>
                    <a:lnTo>
                      <a:pt x="0" y="1390650"/>
                    </a:lnTo>
                    <a:lnTo>
                      <a:pt x="1390650" y="0"/>
                    </a:lnTo>
                    <a:close/>
                    <a:moveTo>
                      <a:pt x="1245870" y="0"/>
                    </a:moveTo>
                    <a:lnTo>
                      <a:pt x="1173480" y="0"/>
                    </a:lnTo>
                    <a:lnTo>
                      <a:pt x="0" y="1173480"/>
                    </a:lnTo>
                    <a:lnTo>
                      <a:pt x="0" y="1245870"/>
                    </a:lnTo>
                    <a:lnTo>
                      <a:pt x="1245870" y="0"/>
                    </a:lnTo>
                    <a:close/>
                    <a:moveTo>
                      <a:pt x="1826260" y="0"/>
                    </a:moveTo>
                    <a:lnTo>
                      <a:pt x="1753870" y="0"/>
                    </a:lnTo>
                    <a:lnTo>
                      <a:pt x="0" y="1753870"/>
                    </a:lnTo>
                    <a:lnTo>
                      <a:pt x="0" y="1826260"/>
                    </a:lnTo>
                    <a:lnTo>
                      <a:pt x="1826260" y="0"/>
                    </a:lnTo>
                    <a:close/>
                    <a:moveTo>
                      <a:pt x="2260600" y="0"/>
                    </a:moveTo>
                    <a:lnTo>
                      <a:pt x="2188210" y="0"/>
                    </a:lnTo>
                    <a:lnTo>
                      <a:pt x="0" y="2188210"/>
                    </a:lnTo>
                    <a:lnTo>
                      <a:pt x="0" y="2260600"/>
                    </a:lnTo>
                    <a:lnTo>
                      <a:pt x="2260600" y="0"/>
                    </a:lnTo>
                    <a:close/>
                    <a:moveTo>
                      <a:pt x="2551430" y="0"/>
                    </a:moveTo>
                    <a:lnTo>
                      <a:pt x="2479040" y="0"/>
                    </a:lnTo>
                    <a:lnTo>
                      <a:pt x="0" y="2479040"/>
                    </a:lnTo>
                    <a:lnTo>
                      <a:pt x="0" y="2551430"/>
                    </a:lnTo>
                    <a:lnTo>
                      <a:pt x="2551430" y="0"/>
                    </a:lnTo>
                    <a:close/>
                    <a:moveTo>
                      <a:pt x="2405380" y="0"/>
                    </a:moveTo>
                    <a:lnTo>
                      <a:pt x="2332990" y="0"/>
                    </a:lnTo>
                    <a:lnTo>
                      <a:pt x="0" y="2332990"/>
                    </a:lnTo>
                    <a:lnTo>
                      <a:pt x="0" y="2405380"/>
                    </a:lnTo>
                    <a:lnTo>
                      <a:pt x="2405380" y="0"/>
                    </a:lnTo>
                    <a:close/>
                    <a:moveTo>
                      <a:pt x="2115820" y="0"/>
                    </a:moveTo>
                    <a:lnTo>
                      <a:pt x="2043430" y="0"/>
                    </a:lnTo>
                    <a:lnTo>
                      <a:pt x="0" y="2043430"/>
                    </a:lnTo>
                    <a:lnTo>
                      <a:pt x="0" y="2115820"/>
                    </a:lnTo>
                    <a:lnTo>
                      <a:pt x="2115820" y="0"/>
                    </a:lnTo>
                    <a:close/>
                    <a:moveTo>
                      <a:pt x="375920" y="0"/>
                    </a:moveTo>
                    <a:lnTo>
                      <a:pt x="303530" y="0"/>
                    </a:lnTo>
                    <a:lnTo>
                      <a:pt x="0" y="303530"/>
                    </a:lnTo>
                    <a:lnTo>
                      <a:pt x="0" y="375920"/>
                    </a:lnTo>
                    <a:lnTo>
                      <a:pt x="375920" y="0"/>
                    </a:lnTo>
                    <a:close/>
                    <a:moveTo>
                      <a:pt x="1101090" y="0"/>
                    </a:moveTo>
                    <a:lnTo>
                      <a:pt x="1028700" y="0"/>
                    </a:lnTo>
                    <a:lnTo>
                      <a:pt x="0" y="1028700"/>
                    </a:lnTo>
                    <a:lnTo>
                      <a:pt x="0" y="1101090"/>
                    </a:lnTo>
                    <a:lnTo>
                      <a:pt x="1101090" y="0"/>
                    </a:lnTo>
                    <a:close/>
                    <a:moveTo>
                      <a:pt x="2653030" y="0"/>
                    </a:moveTo>
                    <a:lnTo>
                      <a:pt x="2623820" y="0"/>
                    </a:lnTo>
                    <a:lnTo>
                      <a:pt x="0" y="2623820"/>
                    </a:lnTo>
                    <a:lnTo>
                      <a:pt x="0" y="2653030"/>
                    </a:lnTo>
                    <a:lnTo>
                      <a:pt x="43180" y="2653030"/>
                    </a:lnTo>
                    <a:lnTo>
                      <a:pt x="2653030" y="43180"/>
                    </a:lnTo>
                    <a:lnTo>
                      <a:pt x="2653030" y="0"/>
                    </a:lnTo>
                    <a:close/>
                    <a:moveTo>
                      <a:pt x="520700" y="0"/>
                    </a:moveTo>
                    <a:lnTo>
                      <a:pt x="448310" y="0"/>
                    </a:lnTo>
                    <a:lnTo>
                      <a:pt x="0" y="448310"/>
                    </a:lnTo>
                    <a:lnTo>
                      <a:pt x="0" y="520700"/>
                    </a:lnTo>
                    <a:lnTo>
                      <a:pt x="520700" y="0"/>
                    </a:lnTo>
                    <a:close/>
                    <a:moveTo>
                      <a:pt x="85090" y="0"/>
                    </a:moveTo>
                    <a:lnTo>
                      <a:pt x="12700" y="0"/>
                    </a:lnTo>
                    <a:lnTo>
                      <a:pt x="0" y="12700"/>
                    </a:lnTo>
                    <a:lnTo>
                      <a:pt x="0" y="85090"/>
                    </a:lnTo>
                    <a:lnTo>
                      <a:pt x="85090" y="0"/>
                    </a:lnTo>
                    <a:close/>
                    <a:moveTo>
                      <a:pt x="231140" y="0"/>
                    </a:moveTo>
                    <a:lnTo>
                      <a:pt x="158750" y="0"/>
                    </a:lnTo>
                    <a:lnTo>
                      <a:pt x="0" y="157480"/>
                    </a:lnTo>
                    <a:lnTo>
                      <a:pt x="0" y="229870"/>
                    </a:lnTo>
                    <a:lnTo>
                      <a:pt x="231140" y="0"/>
                    </a:lnTo>
                    <a:close/>
                    <a:moveTo>
                      <a:pt x="0" y="956310"/>
                    </a:moveTo>
                    <a:lnTo>
                      <a:pt x="956310" y="0"/>
                    </a:lnTo>
                    <a:lnTo>
                      <a:pt x="883920" y="0"/>
                    </a:lnTo>
                    <a:lnTo>
                      <a:pt x="0" y="882650"/>
                    </a:lnTo>
                    <a:lnTo>
                      <a:pt x="0" y="956310"/>
                    </a:lnTo>
                    <a:close/>
                    <a:moveTo>
                      <a:pt x="665480" y="0"/>
                    </a:moveTo>
                    <a:lnTo>
                      <a:pt x="593090" y="0"/>
                    </a:lnTo>
                    <a:lnTo>
                      <a:pt x="0" y="593090"/>
                    </a:lnTo>
                    <a:lnTo>
                      <a:pt x="0" y="665480"/>
                    </a:lnTo>
                    <a:lnTo>
                      <a:pt x="665480" y="0"/>
                    </a:lnTo>
                    <a:close/>
                    <a:moveTo>
                      <a:pt x="810260" y="0"/>
                    </a:moveTo>
                    <a:lnTo>
                      <a:pt x="737870" y="0"/>
                    </a:lnTo>
                    <a:lnTo>
                      <a:pt x="0" y="737870"/>
                    </a:lnTo>
                    <a:lnTo>
                      <a:pt x="0" y="810260"/>
                    </a:lnTo>
                    <a:lnTo>
                      <a:pt x="810260" y="0"/>
                    </a:lnTo>
                    <a:close/>
                    <a:moveTo>
                      <a:pt x="1971040" y="0"/>
                    </a:moveTo>
                    <a:lnTo>
                      <a:pt x="1898650" y="0"/>
                    </a:lnTo>
                    <a:lnTo>
                      <a:pt x="0" y="1898650"/>
                    </a:lnTo>
                    <a:lnTo>
                      <a:pt x="0" y="1971040"/>
                    </a:lnTo>
                    <a:lnTo>
                      <a:pt x="1971040" y="0"/>
                    </a:lnTo>
                    <a:close/>
                    <a:moveTo>
                      <a:pt x="2653030" y="1783080"/>
                    </a:moveTo>
                    <a:lnTo>
                      <a:pt x="2653030" y="1710690"/>
                    </a:lnTo>
                    <a:lnTo>
                      <a:pt x="1710690" y="2653030"/>
                    </a:lnTo>
                    <a:lnTo>
                      <a:pt x="1783080" y="2653030"/>
                    </a:lnTo>
                    <a:lnTo>
                      <a:pt x="2653030" y="1783080"/>
                    </a:lnTo>
                    <a:close/>
                    <a:moveTo>
                      <a:pt x="2653030" y="1927860"/>
                    </a:moveTo>
                    <a:lnTo>
                      <a:pt x="2653030" y="1855470"/>
                    </a:lnTo>
                    <a:lnTo>
                      <a:pt x="1855470" y="2653030"/>
                    </a:lnTo>
                    <a:lnTo>
                      <a:pt x="1927860" y="2653030"/>
                    </a:lnTo>
                    <a:lnTo>
                      <a:pt x="2653030" y="1927860"/>
                    </a:lnTo>
                    <a:close/>
                    <a:moveTo>
                      <a:pt x="2653030" y="2072640"/>
                    </a:moveTo>
                    <a:lnTo>
                      <a:pt x="2653030" y="2000250"/>
                    </a:lnTo>
                    <a:lnTo>
                      <a:pt x="2000250" y="2653030"/>
                    </a:lnTo>
                    <a:lnTo>
                      <a:pt x="2072640" y="2653030"/>
                    </a:lnTo>
                    <a:lnTo>
                      <a:pt x="2653030" y="2072640"/>
                    </a:lnTo>
                    <a:close/>
                    <a:moveTo>
                      <a:pt x="2653030" y="1638300"/>
                    </a:moveTo>
                    <a:lnTo>
                      <a:pt x="2653030" y="1565910"/>
                    </a:lnTo>
                    <a:lnTo>
                      <a:pt x="1564640" y="2654300"/>
                    </a:lnTo>
                    <a:lnTo>
                      <a:pt x="1637030" y="2654300"/>
                    </a:lnTo>
                    <a:lnTo>
                      <a:pt x="2653030" y="1638300"/>
                    </a:lnTo>
                    <a:close/>
                    <a:moveTo>
                      <a:pt x="2217420" y="2653030"/>
                    </a:moveTo>
                    <a:lnTo>
                      <a:pt x="2653030" y="2217420"/>
                    </a:lnTo>
                    <a:lnTo>
                      <a:pt x="2653030" y="2145030"/>
                    </a:lnTo>
                    <a:lnTo>
                      <a:pt x="2145030" y="2653030"/>
                    </a:lnTo>
                    <a:lnTo>
                      <a:pt x="2217420" y="2653030"/>
                    </a:lnTo>
                    <a:close/>
                    <a:moveTo>
                      <a:pt x="2653030" y="2580640"/>
                    </a:moveTo>
                    <a:lnTo>
                      <a:pt x="2580640" y="2653030"/>
                    </a:lnTo>
                    <a:lnTo>
                      <a:pt x="2653030" y="2653030"/>
                    </a:lnTo>
                    <a:lnTo>
                      <a:pt x="2653030" y="2580640"/>
                    </a:lnTo>
                    <a:close/>
                    <a:moveTo>
                      <a:pt x="2653030" y="2508250"/>
                    </a:moveTo>
                    <a:lnTo>
                      <a:pt x="2653030" y="2435860"/>
                    </a:lnTo>
                    <a:lnTo>
                      <a:pt x="2435860" y="2653030"/>
                    </a:lnTo>
                    <a:lnTo>
                      <a:pt x="2508250" y="2653030"/>
                    </a:lnTo>
                    <a:lnTo>
                      <a:pt x="2653030" y="2508250"/>
                    </a:lnTo>
                    <a:close/>
                    <a:moveTo>
                      <a:pt x="2653030" y="2363470"/>
                    </a:moveTo>
                    <a:lnTo>
                      <a:pt x="2653030" y="2291080"/>
                    </a:lnTo>
                    <a:lnTo>
                      <a:pt x="2291080" y="2653030"/>
                    </a:lnTo>
                    <a:lnTo>
                      <a:pt x="2363470" y="2653030"/>
                    </a:lnTo>
                    <a:lnTo>
                      <a:pt x="2653030" y="2363470"/>
                    </a:lnTo>
                    <a:close/>
                    <a:moveTo>
                      <a:pt x="2653030" y="1492250"/>
                    </a:moveTo>
                    <a:lnTo>
                      <a:pt x="2653030" y="1419860"/>
                    </a:lnTo>
                    <a:lnTo>
                      <a:pt x="1419860" y="2653030"/>
                    </a:lnTo>
                    <a:lnTo>
                      <a:pt x="1492250" y="2653030"/>
                    </a:lnTo>
                    <a:lnTo>
                      <a:pt x="2653030" y="1492250"/>
                    </a:lnTo>
                    <a:close/>
                    <a:moveTo>
                      <a:pt x="2653030" y="187960"/>
                    </a:moveTo>
                    <a:lnTo>
                      <a:pt x="2653030" y="115570"/>
                    </a:lnTo>
                    <a:lnTo>
                      <a:pt x="115570" y="2653030"/>
                    </a:lnTo>
                    <a:lnTo>
                      <a:pt x="187960" y="2653030"/>
                    </a:lnTo>
                    <a:lnTo>
                      <a:pt x="2653030" y="187960"/>
                    </a:lnTo>
                    <a:close/>
                    <a:moveTo>
                      <a:pt x="2653030" y="622300"/>
                    </a:moveTo>
                    <a:lnTo>
                      <a:pt x="2653030" y="549910"/>
                    </a:lnTo>
                    <a:lnTo>
                      <a:pt x="549910" y="2653030"/>
                    </a:lnTo>
                    <a:lnTo>
                      <a:pt x="622300" y="2653030"/>
                    </a:lnTo>
                    <a:lnTo>
                      <a:pt x="2653030" y="622300"/>
                    </a:lnTo>
                    <a:close/>
                    <a:moveTo>
                      <a:pt x="2653030" y="477520"/>
                    </a:moveTo>
                    <a:lnTo>
                      <a:pt x="2653030" y="405130"/>
                    </a:lnTo>
                    <a:lnTo>
                      <a:pt x="405130" y="2653030"/>
                    </a:lnTo>
                    <a:lnTo>
                      <a:pt x="477520" y="2653030"/>
                    </a:lnTo>
                    <a:lnTo>
                      <a:pt x="2653030" y="477520"/>
                    </a:lnTo>
                    <a:close/>
                    <a:moveTo>
                      <a:pt x="2653030" y="1347470"/>
                    </a:moveTo>
                    <a:lnTo>
                      <a:pt x="2653030" y="1275080"/>
                    </a:lnTo>
                    <a:lnTo>
                      <a:pt x="1275080" y="2653030"/>
                    </a:lnTo>
                    <a:lnTo>
                      <a:pt x="1347470" y="2653030"/>
                    </a:lnTo>
                    <a:lnTo>
                      <a:pt x="2653030" y="1347470"/>
                    </a:lnTo>
                    <a:close/>
                    <a:moveTo>
                      <a:pt x="2653030" y="767080"/>
                    </a:moveTo>
                    <a:lnTo>
                      <a:pt x="2653030" y="694690"/>
                    </a:lnTo>
                    <a:lnTo>
                      <a:pt x="694690" y="2653030"/>
                    </a:lnTo>
                    <a:lnTo>
                      <a:pt x="767080" y="2653030"/>
                    </a:lnTo>
                    <a:lnTo>
                      <a:pt x="2653030" y="767080"/>
                    </a:lnTo>
                    <a:close/>
                    <a:moveTo>
                      <a:pt x="2653030" y="332740"/>
                    </a:moveTo>
                    <a:lnTo>
                      <a:pt x="2653030" y="260350"/>
                    </a:lnTo>
                    <a:lnTo>
                      <a:pt x="260350" y="2653030"/>
                    </a:lnTo>
                    <a:lnTo>
                      <a:pt x="332740" y="2653030"/>
                    </a:lnTo>
                    <a:lnTo>
                      <a:pt x="2653030" y="332740"/>
                    </a:lnTo>
                    <a:close/>
                    <a:moveTo>
                      <a:pt x="2653030" y="1202690"/>
                    </a:moveTo>
                    <a:lnTo>
                      <a:pt x="2653030" y="1130300"/>
                    </a:lnTo>
                    <a:lnTo>
                      <a:pt x="1130300" y="2653030"/>
                    </a:lnTo>
                    <a:lnTo>
                      <a:pt x="1202690" y="2653030"/>
                    </a:lnTo>
                    <a:lnTo>
                      <a:pt x="2653030" y="1202690"/>
                    </a:lnTo>
                    <a:close/>
                    <a:moveTo>
                      <a:pt x="2653030" y="913130"/>
                    </a:moveTo>
                    <a:lnTo>
                      <a:pt x="2653030" y="840740"/>
                    </a:lnTo>
                    <a:lnTo>
                      <a:pt x="840740" y="2653030"/>
                    </a:lnTo>
                    <a:lnTo>
                      <a:pt x="913130" y="2653030"/>
                    </a:lnTo>
                    <a:lnTo>
                      <a:pt x="2653030" y="913130"/>
                    </a:lnTo>
                    <a:close/>
                    <a:moveTo>
                      <a:pt x="2653030" y="1057910"/>
                    </a:moveTo>
                    <a:lnTo>
                      <a:pt x="2653030" y="985520"/>
                    </a:lnTo>
                    <a:lnTo>
                      <a:pt x="985520" y="2653030"/>
                    </a:lnTo>
                    <a:lnTo>
                      <a:pt x="1057910" y="2653030"/>
                    </a:lnTo>
                    <a:lnTo>
                      <a:pt x="2653030" y="1057910"/>
                    </a:lnTo>
                    <a:close/>
                  </a:path>
                </a:pathLst>
              </a:custGeom>
              <a:solidFill>
                <a:srgbClr val="B86239"/>
              </a:solidFill>
            </p:spPr>
          </p:sp>
        </p:grpSp>
        <p:sp>
          <p:nvSpPr>
            <p:cNvPr name="AutoShape 5" id="5"/>
            <p:cNvSpPr/>
            <p:nvPr/>
          </p:nvSpPr>
          <p:spPr>
            <a:xfrm rot="-10800000">
              <a:off x="4448649" y="7814"/>
              <a:ext cx="1848345" cy="1840531"/>
            </a:xfrm>
            <a:prstGeom prst="rect">
              <a:avLst/>
            </a:prstGeom>
            <a:solidFill>
              <a:srgbClr val="B86239"/>
            </a:solidFill>
          </p:spPr>
        </p:sp>
        <p:grpSp>
          <p:nvGrpSpPr>
            <p:cNvPr name="Group 6" id="6"/>
            <p:cNvGrpSpPr>
              <a:grpSpLocks noChangeAspect="true"/>
            </p:cNvGrpSpPr>
            <p:nvPr/>
          </p:nvGrpSpPr>
          <p:grpSpPr>
            <a:xfrm rot="-10800000">
              <a:off x="2224324" y="3907"/>
              <a:ext cx="1848345" cy="1848345"/>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B86239"/>
              </a:solidFill>
            </p:spPr>
          </p:sp>
        </p:grpSp>
      </p:grpSp>
      <p:grpSp>
        <p:nvGrpSpPr>
          <p:cNvPr name="Group 8" id="8"/>
          <p:cNvGrpSpPr/>
          <p:nvPr/>
        </p:nvGrpSpPr>
        <p:grpSpPr>
          <a:xfrm rot="0">
            <a:off x="3512702" y="1343353"/>
            <a:ext cx="13557206" cy="7600293"/>
            <a:chOff x="0" y="0"/>
            <a:chExt cx="18076275" cy="10133724"/>
          </a:xfrm>
        </p:grpSpPr>
        <p:sp>
          <p:nvSpPr>
            <p:cNvPr name="TextBox 9" id="9"/>
            <p:cNvSpPr txBox="true"/>
            <p:nvPr/>
          </p:nvSpPr>
          <p:spPr>
            <a:xfrm rot="0">
              <a:off x="0" y="-85725"/>
              <a:ext cx="18076275" cy="5393563"/>
            </a:xfrm>
            <a:prstGeom prst="rect">
              <a:avLst/>
            </a:prstGeom>
          </p:spPr>
          <p:txBody>
            <a:bodyPr anchor="t" rtlCol="false" tIns="0" lIns="0" bIns="0" rIns="0">
              <a:spAutoFit/>
            </a:bodyPr>
            <a:lstStyle/>
            <a:p>
              <a:pPr algn="l" marL="0" indent="0" lvl="0">
                <a:lnSpc>
                  <a:spcPts val="10783"/>
                </a:lnSpc>
              </a:pPr>
              <a:r>
                <a:rPr lang="en-US" sz="8294" spc="-165">
                  <a:solidFill>
                    <a:srgbClr val="EFE7DD"/>
                  </a:solidFill>
                  <a:latin typeface="RoxboroughCF"/>
                  <a:ea typeface="RoxboroughCF"/>
                  <a:cs typeface="RoxboroughCF"/>
                  <a:sym typeface="RoxboroughCF"/>
                </a:rPr>
                <a:t>Problem Statement for Inventory Management System</a:t>
              </a:r>
            </a:p>
          </p:txBody>
        </p:sp>
        <p:sp>
          <p:nvSpPr>
            <p:cNvPr name="TextBox 10" id="10"/>
            <p:cNvSpPr txBox="true"/>
            <p:nvPr/>
          </p:nvSpPr>
          <p:spPr>
            <a:xfrm rot="0">
              <a:off x="0" y="6707264"/>
              <a:ext cx="18076275" cy="3426460"/>
            </a:xfrm>
            <a:prstGeom prst="rect">
              <a:avLst/>
            </a:prstGeom>
          </p:spPr>
          <p:txBody>
            <a:bodyPr anchor="t" rtlCol="false" tIns="0" lIns="0" bIns="0" rIns="0">
              <a:spAutoFit/>
            </a:bodyPr>
            <a:lstStyle/>
            <a:p>
              <a:pPr algn="l" marL="0" indent="0" lvl="0">
                <a:lnSpc>
                  <a:spcPts val="4199"/>
                </a:lnSpc>
              </a:pPr>
              <a:r>
                <a:rPr lang="en-US" sz="2799" u="none">
                  <a:solidFill>
                    <a:srgbClr val="EFE7DD"/>
                  </a:solidFill>
                  <a:latin typeface="Sorts Mill Goudy"/>
                  <a:ea typeface="Sorts Mill Goudy"/>
                  <a:cs typeface="Sorts Mill Goudy"/>
                  <a:sym typeface="Sorts Mill Goudy"/>
                </a:rPr>
                <a:t>Managing inventory is a critical task for businesses, including retail stores, warehouses, and manufacturing units. Traditional inventory management methods, such as manual record-keeping or spreadsheet-based tracking, are inefficient, error-prone, and time-consuming. This often leads to problems like stock shortages, overstocking, mismanagement, and revenue loss.</a:t>
              </a:r>
            </a:p>
          </p:txBody>
        </p:sp>
        <p:sp>
          <p:nvSpPr>
            <p:cNvPr name="AutoShape 11" id="11"/>
            <p:cNvSpPr/>
            <p:nvPr/>
          </p:nvSpPr>
          <p:spPr>
            <a:xfrm rot="0">
              <a:off x="0" y="5798174"/>
              <a:ext cx="1324627" cy="223120"/>
            </a:xfrm>
            <a:prstGeom prst="rect">
              <a:avLst/>
            </a:prstGeom>
            <a:solidFill>
              <a:srgbClr val="B86239"/>
            </a:solidFill>
          </p:spPr>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9B4922"/>
        </a:solidFill>
      </p:bgPr>
    </p:bg>
    <p:spTree>
      <p:nvGrpSpPr>
        <p:cNvPr id="1" name=""/>
        <p:cNvGrpSpPr/>
        <p:nvPr/>
      </p:nvGrpSpPr>
      <p:grpSpPr>
        <a:xfrm>
          <a:off x="0" y="0"/>
          <a:ext cx="0" cy="0"/>
          <a:chOff x="0" y="0"/>
          <a:chExt cx="0" cy="0"/>
        </a:xfrm>
      </p:grpSpPr>
      <p:grpSp>
        <p:nvGrpSpPr>
          <p:cNvPr name="Group 2" id="2"/>
          <p:cNvGrpSpPr/>
          <p:nvPr/>
        </p:nvGrpSpPr>
        <p:grpSpPr>
          <a:xfrm rot="5400000">
            <a:off x="-638078" y="4448905"/>
            <a:ext cx="4722745" cy="1389189"/>
            <a:chOff x="0" y="0"/>
            <a:chExt cx="6296994" cy="1852253"/>
          </a:xfrm>
        </p:grpSpPr>
        <p:grpSp>
          <p:nvGrpSpPr>
            <p:cNvPr name="Group 3" id="3"/>
            <p:cNvGrpSpPr>
              <a:grpSpLocks noChangeAspect="true"/>
            </p:cNvGrpSpPr>
            <p:nvPr/>
          </p:nvGrpSpPr>
          <p:grpSpPr>
            <a:xfrm rot="-10800000">
              <a:off x="0" y="0"/>
              <a:ext cx="1848345" cy="1848345"/>
              <a:chOff x="0" y="0"/>
              <a:chExt cx="2653030" cy="2653030"/>
            </a:xfrm>
          </p:grpSpPr>
          <p:sp>
            <p:nvSpPr>
              <p:cNvPr name="Freeform 4" id="4"/>
              <p:cNvSpPr/>
              <p:nvPr/>
            </p:nvSpPr>
            <p:spPr>
              <a:xfrm flipH="false" flipV="false" rot="0">
                <a:off x="0" y="0"/>
                <a:ext cx="2653030" cy="2654300"/>
              </a:xfrm>
              <a:custGeom>
                <a:avLst/>
                <a:gdLst/>
                <a:ahLst/>
                <a:cxnLst/>
                <a:rect r="r" b="b" t="t" l="l"/>
                <a:pathLst>
                  <a:path h="2654300" w="2653030">
                    <a:moveTo>
                      <a:pt x="0" y="1535430"/>
                    </a:moveTo>
                    <a:lnTo>
                      <a:pt x="0" y="1463040"/>
                    </a:lnTo>
                    <a:lnTo>
                      <a:pt x="1463040" y="0"/>
                    </a:lnTo>
                    <a:lnTo>
                      <a:pt x="1535430" y="0"/>
                    </a:lnTo>
                    <a:lnTo>
                      <a:pt x="0" y="1535430"/>
                    </a:lnTo>
                    <a:close/>
                    <a:moveTo>
                      <a:pt x="1681480" y="0"/>
                    </a:moveTo>
                    <a:lnTo>
                      <a:pt x="1609090" y="0"/>
                    </a:lnTo>
                    <a:lnTo>
                      <a:pt x="0" y="1607820"/>
                    </a:lnTo>
                    <a:lnTo>
                      <a:pt x="0" y="1680210"/>
                    </a:lnTo>
                    <a:lnTo>
                      <a:pt x="1681480" y="0"/>
                    </a:lnTo>
                    <a:close/>
                    <a:moveTo>
                      <a:pt x="1390650" y="0"/>
                    </a:moveTo>
                    <a:lnTo>
                      <a:pt x="1318260" y="0"/>
                    </a:lnTo>
                    <a:lnTo>
                      <a:pt x="0" y="1318260"/>
                    </a:lnTo>
                    <a:lnTo>
                      <a:pt x="0" y="1390650"/>
                    </a:lnTo>
                    <a:lnTo>
                      <a:pt x="1390650" y="0"/>
                    </a:lnTo>
                    <a:close/>
                    <a:moveTo>
                      <a:pt x="1245870" y="0"/>
                    </a:moveTo>
                    <a:lnTo>
                      <a:pt x="1173480" y="0"/>
                    </a:lnTo>
                    <a:lnTo>
                      <a:pt x="0" y="1173480"/>
                    </a:lnTo>
                    <a:lnTo>
                      <a:pt x="0" y="1245870"/>
                    </a:lnTo>
                    <a:lnTo>
                      <a:pt x="1245870" y="0"/>
                    </a:lnTo>
                    <a:close/>
                    <a:moveTo>
                      <a:pt x="1826260" y="0"/>
                    </a:moveTo>
                    <a:lnTo>
                      <a:pt x="1753870" y="0"/>
                    </a:lnTo>
                    <a:lnTo>
                      <a:pt x="0" y="1753870"/>
                    </a:lnTo>
                    <a:lnTo>
                      <a:pt x="0" y="1826260"/>
                    </a:lnTo>
                    <a:lnTo>
                      <a:pt x="1826260" y="0"/>
                    </a:lnTo>
                    <a:close/>
                    <a:moveTo>
                      <a:pt x="2260600" y="0"/>
                    </a:moveTo>
                    <a:lnTo>
                      <a:pt x="2188210" y="0"/>
                    </a:lnTo>
                    <a:lnTo>
                      <a:pt x="0" y="2188210"/>
                    </a:lnTo>
                    <a:lnTo>
                      <a:pt x="0" y="2260600"/>
                    </a:lnTo>
                    <a:lnTo>
                      <a:pt x="2260600" y="0"/>
                    </a:lnTo>
                    <a:close/>
                    <a:moveTo>
                      <a:pt x="2551430" y="0"/>
                    </a:moveTo>
                    <a:lnTo>
                      <a:pt x="2479040" y="0"/>
                    </a:lnTo>
                    <a:lnTo>
                      <a:pt x="0" y="2479040"/>
                    </a:lnTo>
                    <a:lnTo>
                      <a:pt x="0" y="2551430"/>
                    </a:lnTo>
                    <a:lnTo>
                      <a:pt x="2551430" y="0"/>
                    </a:lnTo>
                    <a:close/>
                    <a:moveTo>
                      <a:pt x="2405380" y="0"/>
                    </a:moveTo>
                    <a:lnTo>
                      <a:pt x="2332990" y="0"/>
                    </a:lnTo>
                    <a:lnTo>
                      <a:pt x="0" y="2332990"/>
                    </a:lnTo>
                    <a:lnTo>
                      <a:pt x="0" y="2405380"/>
                    </a:lnTo>
                    <a:lnTo>
                      <a:pt x="2405380" y="0"/>
                    </a:lnTo>
                    <a:close/>
                    <a:moveTo>
                      <a:pt x="2115820" y="0"/>
                    </a:moveTo>
                    <a:lnTo>
                      <a:pt x="2043430" y="0"/>
                    </a:lnTo>
                    <a:lnTo>
                      <a:pt x="0" y="2043430"/>
                    </a:lnTo>
                    <a:lnTo>
                      <a:pt x="0" y="2115820"/>
                    </a:lnTo>
                    <a:lnTo>
                      <a:pt x="2115820" y="0"/>
                    </a:lnTo>
                    <a:close/>
                    <a:moveTo>
                      <a:pt x="375920" y="0"/>
                    </a:moveTo>
                    <a:lnTo>
                      <a:pt x="303530" y="0"/>
                    </a:lnTo>
                    <a:lnTo>
                      <a:pt x="0" y="303530"/>
                    </a:lnTo>
                    <a:lnTo>
                      <a:pt x="0" y="375920"/>
                    </a:lnTo>
                    <a:lnTo>
                      <a:pt x="375920" y="0"/>
                    </a:lnTo>
                    <a:close/>
                    <a:moveTo>
                      <a:pt x="1101090" y="0"/>
                    </a:moveTo>
                    <a:lnTo>
                      <a:pt x="1028700" y="0"/>
                    </a:lnTo>
                    <a:lnTo>
                      <a:pt x="0" y="1028700"/>
                    </a:lnTo>
                    <a:lnTo>
                      <a:pt x="0" y="1101090"/>
                    </a:lnTo>
                    <a:lnTo>
                      <a:pt x="1101090" y="0"/>
                    </a:lnTo>
                    <a:close/>
                    <a:moveTo>
                      <a:pt x="2653030" y="0"/>
                    </a:moveTo>
                    <a:lnTo>
                      <a:pt x="2623820" y="0"/>
                    </a:lnTo>
                    <a:lnTo>
                      <a:pt x="0" y="2623820"/>
                    </a:lnTo>
                    <a:lnTo>
                      <a:pt x="0" y="2653030"/>
                    </a:lnTo>
                    <a:lnTo>
                      <a:pt x="43180" y="2653030"/>
                    </a:lnTo>
                    <a:lnTo>
                      <a:pt x="2653030" y="43180"/>
                    </a:lnTo>
                    <a:lnTo>
                      <a:pt x="2653030" y="0"/>
                    </a:lnTo>
                    <a:close/>
                    <a:moveTo>
                      <a:pt x="520700" y="0"/>
                    </a:moveTo>
                    <a:lnTo>
                      <a:pt x="448310" y="0"/>
                    </a:lnTo>
                    <a:lnTo>
                      <a:pt x="0" y="448310"/>
                    </a:lnTo>
                    <a:lnTo>
                      <a:pt x="0" y="520700"/>
                    </a:lnTo>
                    <a:lnTo>
                      <a:pt x="520700" y="0"/>
                    </a:lnTo>
                    <a:close/>
                    <a:moveTo>
                      <a:pt x="85090" y="0"/>
                    </a:moveTo>
                    <a:lnTo>
                      <a:pt x="12700" y="0"/>
                    </a:lnTo>
                    <a:lnTo>
                      <a:pt x="0" y="12700"/>
                    </a:lnTo>
                    <a:lnTo>
                      <a:pt x="0" y="85090"/>
                    </a:lnTo>
                    <a:lnTo>
                      <a:pt x="85090" y="0"/>
                    </a:lnTo>
                    <a:close/>
                    <a:moveTo>
                      <a:pt x="231140" y="0"/>
                    </a:moveTo>
                    <a:lnTo>
                      <a:pt x="158750" y="0"/>
                    </a:lnTo>
                    <a:lnTo>
                      <a:pt x="0" y="157480"/>
                    </a:lnTo>
                    <a:lnTo>
                      <a:pt x="0" y="229870"/>
                    </a:lnTo>
                    <a:lnTo>
                      <a:pt x="231140" y="0"/>
                    </a:lnTo>
                    <a:close/>
                    <a:moveTo>
                      <a:pt x="0" y="956310"/>
                    </a:moveTo>
                    <a:lnTo>
                      <a:pt x="956310" y="0"/>
                    </a:lnTo>
                    <a:lnTo>
                      <a:pt x="883920" y="0"/>
                    </a:lnTo>
                    <a:lnTo>
                      <a:pt x="0" y="882650"/>
                    </a:lnTo>
                    <a:lnTo>
                      <a:pt x="0" y="956310"/>
                    </a:lnTo>
                    <a:close/>
                    <a:moveTo>
                      <a:pt x="665480" y="0"/>
                    </a:moveTo>
                    <a:lnTo>
                      <a:pt x="593090" y="0"/>
                    </a:lnTo>
                    <a:lnTo>
                      <a:pt x="0" y="593090"/>
                    </a:lnTo>
                    <a:lnTo>
                      <a:pt x="0" y="665480"/>
                    </a:lnTo>
                    <a:lnTo>
                      <a:pt x="665480" y="0"/>
                    </a:lnTo>
                    <a:close/>
                    <a:moveTo>
                      <a:pt x="810260" y="0"/>
                    </a:moveTo>
                    <a:lnTo>
                      <a:pt x="737870" y="0"/>
                    </a:lnTo>
                    <a:lnTo>
                      <a:pt x="0" y="737870"/>
                    </a:lnTo>
                    <a:lnTo>
                      <a:pt x="0" y="810260"/>
                    </a:lnTo>
                    <a:lnTo>
                      <a:pt x="810260" y="0"/>
                    </a:lnTo>
                    <a:close/>
                    <a:moveTo>
                      <a:pt x="1971040" y="0"/>
                    </a:moveTo>
                    <a:lnTo>
                      <a:pt x="1898650" y="0"/>
                    </a:lnTo>
                    <a:lnTo>
                      <a:pt x="0" y="1898650"/>
                    </a:lnTo>
                    <a:lnTo>
                      <a:pt x="0" y="1971040"/>
                    </a:lnTo>
                    <a:lnTo>
                      <a:pt x="1971040" y="0"/>
                    </a:lnTo>
                    <a:close/>
                    <a:moveTo>
                      <a:pt x="2653030" y="1783080"/>
                    </a:moveTo>
                    <a:lnTo>
                      <a:pt x="2653030" y="1710690"/>
                    </a:lnTo>
                    <a:lnTo>
                      <a:pt x="1710690" y="2653030"/>
                    </a:lnTo>
                    <a:lnTo>
                      <a:pt x="1783080" y="2653030"/>
                    </a:lnTo>
                    <a:lnTo>
                      <a:pt x="2653030" y="1783080"/>
                    </a:lnTo>
                    <a:close/>
                    <a:moveTo>
                      <a:pt x="2653030" y="1927860"/>
                    </a:moveTo>
                    <a:lnTo>
                      <a:pt x="2653030" y="1855470"/>
                    </a:lnTo>
                    <a:lnTo>
                      <a:pt x="1855470" y="2653030"/>
                    </a:lnTo>
                    <a:lnTo>
                      <a:pt x="1927860" y="2653030"/>
                    </a:lnTo>
                    <a:lnTo>
                      <a:pt x="2653030" y="1927860"/>
                    </a:lnTo>
                    <a:close/>
                    <a:moveTo>
                      <a:pt x="2653030" y="2072640"/>
                    </a:moveTo>
                    <a:lnTo>
                      <a:pt x="2653030" y="2000250"/>
                    </a:lnTo>
                    <a:lnTo>
                      <a:pt x="2000250" y="2653030"/>
                    </a:lnTo>
                    <a:lnTo>
                      <a:pt x="2072640" y="2653030"/>
                    </a:lnTo>
                    <a:lnTo>
                      <a:pt x="2653030" y="2072640"/>
                    </a:lnTo>
                    <a:close/>
                    <a:moveTo>
                      <a:pt x="2653030" y="1638300"/>
                    </a:moveTo>
                    <a:lnTo>
                      <a:pt x="2653030" y="1565910"/>
                    </a:lnTo>
                    <a:lnTo>
                      <a:pt x="1564640" y="2654300"/>
                    </a:lnTo>
                    <a:lnTo>
                      <a:pt x="1637030" y="2654300"/>
                    </a:lnTo>
                    <a:lnTo>
                      <a:pt x="2653030" y="1638300"/>
                    </a:lnTo>
                    <a:close/>
                    <a:moveTo>
                      <a:pt x="2217420" y="2653030"/>
                    </a:moveTo>
                    <a:lnTo>
                      <a:pt x="2653030" y="2217420"/>
                    </a:lnTo>
                    <a:lnTo>
                      <a:pt x="2653030" y="2145030"/>
                    </a:lnTo>
                    <a:lnTo>
                      <a:pt x="2145030" y="2653030"/>
                    </a:lnTo>
                    <a:lnTo>
                      <a:pt x="2217420" y="2653030"/>
                    </a:lnTo>
                    <a:close/>
                    <a:moveTo>
                      <a:pt x="2653030" y="2580640"/>
                    </a:moveTo>
                    <a:lnTo>
                      <a:pt x="2580640" y="2653030"/>
                    </a:lnTo>
                    <a:lnTo>
                      <a:pt x="2653030" y="2653030"/>
                    </a:lnTo>
                    <a:lnTo>
                      <a:pt x="2653030" y="2580640"/>
                    </a:lnTo>
                    <a:close/>
                    <a:moveTo>
                      <a:pt x="2653030" y="2508250"/>
                    </a:moveTo>
                    <a:lnTo>
                      <a:pt x="2653030" y="2435860"/>
                    </a:lnTo>
                    <a:lnTo>
                      <a:pt x="2435860" y="2653030"/>
                    </a:lnTo>
                    <a:lnTo>
                      <a:pt x="2508250" y="2653030"/>
                    </a:lnTo>
                    <a:lnTo>
                      <a:pt x="2653030" y="2508250"/>
                    </a:lnTo>
                    <a:close/>
                    <a:moveTo>
                      <a:pt x="2653030" y="2363470"/>
                    </a:moveTo>
                    <a:lnTo>
                      <a:pt x="2653030" y="2291080"/>
                    </a:lnTo>
                    <a:lnTo>
                      <a:pt x="2291080" y="2653030"/>
                    </a:lnTo>
                    <a:lnTo>
                      <a:pt x="2363470" y="2653030"/>
                    </a:lnTo>
                    <a:lnTo>
                      <a:pt x="2653030" y="2363470"/>
                    </a:lnTo>
                    <a:close/>
                    <a:moveTo>
                      <a:pt x="2653030" y="1492250"/>
                    </a:moveTo>
                    <a:lnTo>
                      <a:pt x="2653030" y="1419860"/>
                    </a:lnTo>
                    <a:lnTo>
                      <a:pt x="1419860" y="2653030"/>
                    </a:lnTo>
                    <a:lnTo>
                      <a:pt x="1492250" y="2653030"/>
                    </a:lnTo>
                    <a:lnTo>
                      <a:pt x="2653030" y="1492250"/>
                    </a:lnTo>
                    <a:close/>
                    <a:moveTo>
                      <a:pt x="2653030" y="187960"/>
                    </a:moveTo>
                    <a:lnTo>
                      <a:pt x="2653030" y="115570"/>
                    </a:lnTo>
                    <a:lnTo>
                      <a:pt x="115570" y="2653030"/>
                    </a:lnTo>
                    <a:lnTo>
                      <a:pt x="187960" y="2653030"/>
                    </a:lnTo>
                    <a:lnTo>
                      <a:pt x="2653030" y="187960"/>
                    </a:lnTo>
                    <a:close/>
                    <a:moveTo>
                      <a:pt x="2653030" y="622300"/>
                    </a:moveTo>
                    <a:lnTo>
                      <a:pt x="2653030" y="549910"/>
                    </a:lnTo>
                    <a:lnTo>
                      <a:pt x="549910" y="2653030"/>
                    </a:lnTo>
                    <a:lnTo>
                      <a:pt x="622300" y="2653030"/>
                    </a:lnTo>
                    <a:lnTo>
                      <a:pt x="2653030" y="622300"/>
                    </a:lnTo>
                    <a:close/>
                    <a:moveTo>
                      <a:pt x="2653030" y="477520"/>
                    </a:moveTo>
                    <a:lnTo>
                      <a:pt x="2653030" y="405130"/>
                    </a:lnTo>
                    <a:lnTo>
                      <a:pt x="405130" y="2653030"/>
                    </a:lnTo>
                    <a:lnTo>
                      <a:pt x="477520" y="2653030"/>
                    </a:lnTo>
                    <a:lnTo>
                      <a:pt x="2653030" y="477520"/>
                    </a:lnTo>
                    <a:close/>
                    <a:moveTo>
                      <a:pt x="2653030" y="1347470"/>
                    </a:moveTo>
                    <a:lnTo>
                      <a:pt x="2653030" y="1275080"/>
                    </a:lnTo>
                    <a:lnTo>
                      <a:pt x="1275080" y="2653030"/>
                    </a:lnTo>
                    <a:lnTo>
                      <a:pt x="1347470" y="2653030"/>
                    </a:lnTo>
                    <a:lnTo>
                      <a:pt x="2653030" y="1347470"/>
                    </a:lnTo>
                    <a:close/>
                    <a:moveTo>
                      <a:pt x="2653030" y="767080"/>
                    </a:moveTo>
                    <a:lnTo>
                      <a:pt x="2653030" y="694690"/>
                    </a:lnTo>
                    <a:lnTo>
                      <a:pt x="694690" y="2653030"/>
                    </a:lnTo>
                    <a:lnTo>
                      <a:pt x="767080" y="2653030"/>
                    </a:lnTo>
                    <a:lnTo>
                      <a:pt x="2653030" y="767080"/>
                    </a:lnTo>
                    <a:close/>
                    <a:moveTo>
                      <a:pt x="2653030" y="332740"/>
                    </a:moveTo>
                    <a:lnTo>
                      <a:pt x="2653030" y="260350"/>
                    </a:lnTo>
                    <a:lnTo>
                      <a:pt x="260350" y="2653030"/>
                    </a:lnTo>
                    <a:lnTo>
                      <a:pt x="332740" y="2653030"/>
                    </a:lnTo>
                    <a:lnTo>
                      <a:pt x="2653030" y="332740"/>
                    </a:lnTo>
                    <a:close/>
                    <a:moveTo>
                      <a:pt x="2653030" y="1202690"/>
                    </a:moveTo>
                    <a:lnTo>
                      <a:pt x="2653030" y="1130300"/>
                    </a:lnTo>
                    <a:lnTo>
                      <a:pt x="1130300" y="2653030"/>
                    </a:lnTo>
                    <a:lnTo>
                      <a:pt x="1202690" y="2653030"/>
                    </a:lnTo>
                    <a:lnTo>
                      <a:pt x="2653030" y="1202690"/>
                    </a:lnTo>
                    <a:close/>
                    <a:moveTo>
                      <a:pt x="2653030" y="913130"/>
                    </a:moveTo>
                    <a:lnTo>
                      <a:pt x="2653030" y="840740"/>
                    </a:lnTo>
                    <a:lnTo>
                      <a:pt x="840740" y="2653030"/>
                    </a:lnTo>
                    <a:lnTo>
                      <a:pt x="913130" y="2653030"/>
                    </a:lnTo>
                    <a:lnTo>
                      <a:pt x="2653030" y="913130"/>
                    </a:lnTo>
                    <a:close/>
                    <a:moveTo>
                      <a:pt x="2653030" y="1057910"/>
                    </a:moveTo>
                    <a:lnTo>
                      <a:pt x="2653030" y="985520"/>
                    </a:lnTo>
                    <a:lnTo>
                      <a:pt x="985520" y="2653030"/>
                    </a:lnTo>
                    <a:lnTo>
                      <a:pt x="1057910" y="2653030"/>
                    </a:lnTo>
                    <a:lnTo>
                      <a:pt x="2653030" y="1057910"/>
                    </a:lnTo>
                    <a:close/>
                  </a:path>
                </a:pathLst>
              </a:custGeom>
              <a:solidFill>
                <a:srgbClr val="BEB8B1"/>
              </a:solidFill>
            </p:spPr>
          </p:sp>
        </p:grpSp>
        <p:sp>
          <p:nvSpPr>
            <p:cNvPr name="AutoShape 5" id="5"/>
            <p:cNvSpPr/>
            <p:nvPr/>
          </p:nvSpPr>
          <p:spPr>
            <a:xfrm rot="-10800000">
              <a:off x="4448649" y="7814"/>
              <a:ext cx="1848345" cy="1840531"/>
            </a:xfrm>
            <a:prstGeom prst="rect">
              <a:avLst/>
            </a:prstGeom>
            <a:solidFill>
              <a:srgbClr val="BEB8B1"/>
            </a:solidFill>
          </p:spPr>
        </p:sp>
        <p:grpSp>
          <p:nvGrpSpPr>
            <p:cNvPr name="Group 6" id="6"/>
            <p:cNvGrpSpPr>
              <a:grpSpLocks noChangeAspect="true"/>
            </p:cNvGrpSpPr>
            <p:nvPr/>
          </p:nvGrpSpPr>
          <p:grpSpPr>
            <a:xfrm rot="-10800000">
              <a:off x="2224324" y="3907"/>
              <a:ext cx="1848345" cy="1848345"/>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BEB8B1"/>
              </a:solidFill>
            </p:spPr>
          </p:sp>
        </p:grpSp>
      </p:grpSp>
      <p:grpSp>
        <p:nvGrpSpPr>
          <p:cNvPr name="Group 8" id="8"/>
          <p:cNvGrpSpPr/>
          <p:nvPr/>
        </p:nvGrpSpPr>
        <p:grpSpPr>
          <a:xfrm rot="0">
            <a:off x="3512702" y="1438463"/>
            <a:ext cx="13557206" cy="7410074"/>
            <a:chOff x="0" y="0"/>
            <a:chExt cx="18076275" cy="9880099"/>
          </a:xfrm>
        </p:grpSpPr>
        <p:sp>
          <p:nvSpPr>
            <p:cNvPr name="TextBox 9" id="9"/>
            <p:cNvSpPr txBox="true"/>
            <p:nvPr/>
          </p:nvSpPr>
          <p:spPr>
            <a:xfrm rot="0">
              <a:off x="0" y="-38100"/>
              <a:ext cx="18076275" cy="7886313"/>
            </a:xfrm>
            <a:prstGeom prst="rect">
              <a:avLst/>
            </a:prstGeom>
          </p:spPr>
          <p:txBody>
            <a:bodyPr anchor="t" rtlCol="false" tIns="0" lIns="0" bIns="0" rIns="0">
              <a:spAutoFit/>
            </a:bodyPr>
            <a:lstStyle/>
            <a:p>
              <a:pPr algn="l" marL="0" indent="0" lvl="0">
                <a:lnSpc>
                  <a:spcPts val="5879"/>
                </a:lnSpc>
              </a:pPr>
              <a:r>
                <a:rPr lang="en-US" sz="4522">
                  <a:solidFill>
                    <a:srgbClr val="EFE7DD"/>
                  </a:solidFill>
                  <a:latin typeface="Sorts Mill Goudy"/>
                  <a:ea typeface="Sorts Mill Goudy"/>
                  <a:cs typeface="Sorts Mill Goudy"/>
                  <a:sym typeface="Sorts Mill Goudy"/>
                </a:rPr>
                <a:t>Objective of the Inventory Management System Project</a:t>
              </a:r>
            </a:p>
            <a:p>
              <a:pPr algn="l" marL="0" indent="0" lvl="0">
                <a:lnSpc>
                  <a:spcPts val="5879"/>
                </a:lnSpc>
              </a:pPr>
              <a:r>
                <a:rPr lang="en-US" sz="4522">
                  <a:solidFill>
                    <a:srgbClr val="EFE7DD"/>
                  </a:solidFill>
                  <a:latin typeface="Sorts Mill Goudy"/>
                  <a:ea typeface="Sorts Mill Goudy"/>
                  <a:cs typeface="Sorts Mill Goudy"/>
                  <a:sym typeface="Sorts Mill Goudy"/>
                </a:rPr>
                <a:t>The main objective of developing an Inventory Management System (IMS) is to efficiently manage stock levels, reduce operational costs, and streamline inventory tracking. The system ensures real-time visibility of stock, minimizes errors, and optimizes the supply chain process.</a:t>
              </a:r>
            </a:p>
          </p:txBody>
        </p:sp>
        <p:sp>
          <p:nvSpPr>
            <p:cNvPr name="TextBox 10" id="10"/>
            <p:cNvSpPr txBox="true"/>
            <p:nvPr/>
          </p:nvSpPr>
          <p:spPr>
            <a:xfrm rot="0">
              <a:off x="0" y="9247639"/>
              <a:ext cx="18076275" cy="632460"/>
            </a:xfrm>
            <a:prstGeom prst="rect">
              <a:avLst/>
            </a:prstGeom>
          </p:spPr>
          <p:txBody>
            <a:bodyPr anchor="t" rtlCol="false" tIns="0" lIns="0" bIns="0" rIns="0">
              <a:spAutoFit/>
            </a:bodyPr>
            <a:lstStyle/>
            <a:p>
              <a:pPr algn="l" marL="0" indent="0" lvl="0">
                <a:lnSpc>
                  <a:spcPts val="4199"/>
                </a:lnSpc>
              </a:pPr>
            </a:p>
          </p:txBody>
        </p:sp>
        <p:sp>
          <p:nvSpPr>
            <p:cNvPr name="AutoShape 11" id="11"/>
            <p:cNvSpPr/>
            <p:nvPr/>
          </p:nvSpPr>
          <p:spPr>
            <a:xfrm rot="0">
              <a:off x="0" y="8338548"/>
              <a:ext cx="1324627" cy="223120"/>
            </a:xfrm>
            <a:prstGeom prst="rect">
              <a:avLst/>
            </a:prstGeom>
            <a:solidFill>
              <a:srgbClr val="BEB8B1"/>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B4922"/>
        </a:solidFill>
      </p:bgPr>
    </p:bg>
    <p:spTree>
      <p:nvGrpSpPr>
        <p:cNvPr id="1" name=""/>
        <p:cNvGrpSpPr/>
        <p:nvPr/>
      </p:nvGrpSpPr>
      <p:grpSpPr>
        <a:xfrm>
          <a:off x="0" y="0"/>
          <a:ext cx="0" cy="0"/>
          <a:chOff x="0" y="0"/>
          <a:chExt cx="0" cy="0"/>
        </a:xfrm>
      </p:grpSpPr>
      <p:grpSp>
        <p:nvGrpSpPr>
          <p:cNvPr name="Group 2" id="2"/>
          <p:cNvGrpSpPr/>
          <p:nvPr/>
        </p:nvGrpSpPr>
        <p:grpSpPr>
          <a:xfrm rot="0">
            <a:off x="3396193" y="2541207"/>
            <a:ext cx="12741423" cy="5204585"/>
            <a:chOff x="0" y="0"/>
            <a:chExt cx="16988563" cy="6939447"/>
          </a:xfrm>
        </p:grpSpPr>
        <p:sp>
          <p:nvSpPr>
            <p:cNvPr name="TextBox 3" id="3"/>
            <p:cNvSpPr txBox="true"/>
            <p:nvPr/>
          </p:nvSpPr>
          <p:spPr>
            <a:xfrm rot="0">
              <a:off x="0" y="4335524"/>
              <a:ext cx="16988563" cy="2603923"/>
            </a:xfrm>
            <a:prstGeom prst="rect">
              <a:avLst/>
            </a:prstGeom>
          </p:spPr>
          <p:txBody>
            <a:bodyPr anchor="t" rtlCol="false" tIns="0" lIns="0" bIns="0" rIns="0">
              <a:spAutoFit/>
            </a:bodyPr>
            <a:lstStyle/>
            <a:p>
              <a:pPr algn="l" marL="0" indent="0" lvl="0">
                <a:lnSpc>
                  <a:spcPts val="3920"/>
                </a:lnSpc>
                <a:spcBef>
                  <a:spcPct val="0"/>
                </a:spcBef>
              </a:pPr>
              <a:r>
                <a:rPr lang="en-US" sz="2800">
                  <a:solidFill>
                    <a:srgbClr val="EFE7DD"/>
                  </a:solidFill>
                  <a:latin typeface="Sorts Mill Goudy"/>
                  <a:ea typeface="Sorts Mill Goudy"/>
                  <a:cs typeface="Sorts Mill Goudy"/>
                  <a:sym typeface="Sorts Mill Goudy"/>
                </a:rPr>
                <a:t>An Inventory Management System (IMS) is a software or process that helps businesses track and manage their stock, supplies, and materials efficiently. It ensures that products are available when needed while minimizing excess inventory, reducing costs, and improving overall efficiency.</a:t>
              </a:r>
            </a:p>
          </p:txBody>
        </p:sp>
        <p:sp>
          <p:nvSpPr>
            <p:cNvPr name="TextBox 4" id="4"/>
            <p:cNvSpPr txBox="true"/>
            <p:nvPr/>
          </p:nvSpPr>
          <p:spPr>
            <a:xfrm rot="0">
              <a:off x="0" y="114300"/>
              <a:ext cx="16988563" cy="3382510"/>
            </a:xfrm>
            <a:prstGeom prst="rect">
              <a:avLst/>
            </a:prstGeom>
          </p:spPr>
          <p:txBody>
            <a:bodyPr anchor="t" rtlCol="false" tIns="0" lIns="0" bIns="0" rIns="0">
              <a:spAutoFit/>
            </a:bodyPr>
            <a:lstStyle/>
            <a:p>
              <a:pPr algn="l" marL="0" indent="0" lvl="0">
                <a:lnSpc>
                  <a:spcPts val="6502"/>
                </a:lnSpc>
              </a:pPr>
              <a:r>
                <a:rPr lang="en-US" sz="6502" spc="1040">
                  <a:solidFill>
                    <a:srgbClr val="EFE7DD"/>
                  </a:solidFill>
                  <a:latin typeface="Montserrat"/>
                  <a:ea typeface="Montserrat"/>
                  <a:cs typeface="Montserrat"/>
                  <a:sym typeface="Montserrat"/>
                </a:rPr>
                <a:t>OVERVIEW OF AN INVENTORY MANAGEMENT SYSTEM</a:t>
              </a:r>
            </a:p>
          </p:txBody>
        </p:sp>
      </p:grpSp>
      <p:sp>
        <p:nvSpPr>
          <p:cNvPr name="Freeform 5" id="5"/>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B4922"/>
        </a:solidFill>
      </p:bgPr>
    </p:bg>
    <p:spTree>
      <p:nvGrpSpPr>
        <p:cNvPr id="1" name=""/>
        <p:cNvGrpSpPr/>
        <p:nvPr/>
      </p:nvGrpSpPr>
      <p:grpSpPr>
        <a:xfrm>
          <a:off x="0" y="0"/>
          <a:ext cx="0" cy="0"/>
          <a:chOff x="0" y="0"/>
          <a:chExt cx="0" cy="0"/>
        </a:xfrm>
      </p:grpSpPr>
      <p:grpSp>
        <p:nvGrpSpPr>
          <p:cNvPr name="Group 2" id="2"/>
          <p:cNvGrpSpPr/>
          <p:nvPr/>
        </p:nvGrpSpPr>
        <p:grpSpPr>
          <a:xfrm rot="0">
            <a:off x="7970324" y="1270816"/>
            <a:ext cx="9040494" cy="7745369"/>
            <a:chOff x="0" y="0"/>
            <a:chExt cx="12053992" cy="10327158"/>
          </a:xfrm>
        </p:grpSpPr>
        <p:sp>
          <p:nvSpPr>
            <p:cNvPr name="TextBox 3" id="3"/>
            <p:cNvSpPr txBox="true"/>
            <p:nvPr/>
          </p:nvSpPr>
          <p:spPr>
            <a:xfrm rot="0">
              <a:off x="0" y="2569782"/>
              <a:ext cx="10607073" cy="7757376"/>
            </a:xfrm>
            <a:prstGeom prst="rect">
              <a:avLst/>
            </a:prstGeom>
          </p:spPr>
          <p:txBody>
            <a:bodyPr anchor="t" rtlCol="false" tIns="0" lIns="0" bIns="0" rIns="0">
              <a:spAutoFit/>
            </a:bodyPr>
            <a:lstStyle/>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Stock Tracking: Monitors the quantity of products in real time.</a:t>
              </a:r>
            </a:p>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Barcode &amp; QR Code Scanning: Speeds up inventory updates and reduces errors.</a:t>
              </a:r>
            </a:p>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Order Management: Automates purchase orders and sales tracking.</a:t>
              </a:r>
            </a:p>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Supplier &amp; Vendor Management: Keeps track of supplier details and order history.</a:t>
              </a:r>
            </a:p>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Demand Forecasting: Uses historical data to predict future inventory needs.</a:t>
              </a:r>
            </a:p>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Multi-location Management: Manages stock across different warehouses or stores.</a:t>
              </a:r>
            </a:p>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Alerts &amp; Notifications: Sends alerts for low stock levels or overstocking.</a:t>
              </a:r>
            </a:p>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Reports &amp; Analytics: Provides insights into sales, stock levels, and trends.</a:t>
              </a:r>
            </a:p>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Integration with ERP &amp; Accounting Systems: Syncs with financial software for better tracking.</a:t>
              </a:r>
            </a:p>
            <a:p>
              <a:pPr algn="l" marL="434445" indent="-217222" lvl="1">
                <a:lnSpc>
                  <a:spcPts val="2615"/>
                </a:lnSpc>
                <a:buAutoNum type="arabicPeriod" startAt="1"/>
              </a:pPr>
              <a:r>
                <a:rPr lang="en-US" sz="2012">
                  <a:solidFill>
                    <a:srgbClr val="EFE7DD"/>
                  </a:solidFill>
                  <a:latin typeface="Sorts Mill Goudy"/>
                  <a:ea typeface="Sorts Mill Goudy"/>
                  <a:cs typeface="Sorts Mill Goudy"/>
                  <a:sym typeface="Sorts Mill Goudy"/>
                </a:rPr>
                <a:t>User Access Control: Assigns roles and permissions to different users.</a:t>
              </a:r>
            </a:p>
          </p:txBody>
        </p:sp>
        <p:sp>
          <p:nvSpPr>
            <p:cNvPr name="TextBox 4" id="4"/>
            <p:cNvSpPr txBox="true"/>
            <p:nvPr/>
          </p:nvSpPr>
          <p:spPr>
            <a:xfrm rot="0">
              <a:off x="0" y="-47625"/>
              <a:ext cx="12053992" cy="1707938"/>
            </a:xfrm>
            <a:prstGeom prst="rect">
              <a:avLst/>
            </a:prstGeom>
          </p:spPr>
          <p:txBody>
            <a:bodyPr anchor="t" rtlCol="false" tIns="0" lIns="0" bIns="0" rIns="0">
              <a:spAutoFit/>
            </a:bodyPr>
            <a:lstStyle/>
            <a:p>
              <a:pPr algn="l" marL="0" indent="0" lvl="0">
                <a:lnSpc>
                  <a:spcPts val="5134"/>
                </a:lnSpc>
              </a:pPr>
              <a:r>
                <a:rPr lang="en-US" sz="3949">
                  <a:solidFill>
                    <a:srgbClr val="EFE7DD"/>
                  </a:solidFill>
                  <a:latin typeface="Sorts Mill Goudy"/>
                  <a:ea typeface="Sorts Mill Goudy"/>
                  <a:cs typeface="Sorts Mill Goudy"/>
                  <a:sym typeface="Sorts Mill Goudy"/>
                </a:rPr>
                <a:t>Key Features of an Inventory Management System</a:t>
              </a:r>
            </a:p>
          </p:txBody>
        </p:sp>
      </p:grpSp>
      <p:sp>
        <p:nvSpPr>
          <p:cNvPr name="Freeform 5" id="5"/>
          <p:cNvSpPr/>
          <p:nvPr/>
        </p:nvSpPr>
        <p:spPr>
          <a:xfrm flipH="false" flipV="false" rot="0">
            <a:off x="1567077" y="1608026"/>
            <a:ext cx="5039658" cy="7070949"/>
          </a:xfrm>
          <a:custGeom>
            <a:avLst/>
            <a:gdLst/>
            <a:ahLst/>
            <a:cxnLst/>
            <a:rect r="r" b="b" t="t" l="l"/>
            <a:pathLst>
              <a:path h="7070949" w="5039658">
                <a:moveTo>
                  <a:pt x="0" y="0"/>
                </a:moveTo>
                <a:lnTo>
                  <a:pt x="5039658" y="0"/>
                </a:lnTo>
                <a:lnTo>
                  <a:pt x="5039658" y="7070948"/>
                </a:lnTo>
                <a:lnTo>
                  <a:pt x="0" y="70709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B4922"/>
        </a:solidFill>
      </p:bgPr>
    </p:bg>
    <p:spTree>
      <p:nvGrpSpPr>
        <p:cNvPr id="1" name=""/>
        <p:cNvGrpSpPr/>
        <p:nvPr/>
      </p:nvGrpSpPr>
      <p:grpSpPr>
        <a:xfrm>
          <a:off x="0" y="0"/>
          <a:ext cx="0" cy="0"/>
          <a:chOff x="0" y="0"/>
          <a:chExt cx="0" cy="0"/>
        </a:xfrm>
      </p:grpSpPr>
      <p:sp>
        <p:nvSpPr>
          <p:cNvPr name="TextBox 2" id="2"/>
          <p:cNvSpPr txBox="true"/>
          <p:nvPr/>
        </p:nvSpPr>
        <p:spPr>
          <a:xfrm rot="0">
            <a:off x="6768794" y="1143000"/>
            <a:ext cx="9567223" cy="8001000"/>
          </a:xfrm>
          <a:prstGeom prst="rect">
            <a:avLst/>
          </a:prstGeom>
        </p:spPr>
        <p:txBody>
          <a:bodyPr anchor="t" rtlCol="false" tIns="0" lIns="0" bIns="0" rIns="0">
            <a:spAutoFit/>
          </a:bodyPr>
          <a:lstStyle/>
          <a:p>
            <a:pPr algn="l" marL="0" indent="0" lvl="0">
              <a:lnSpc>
                <a:spcPts val="3193"/>
              </a:lnSpc>
            </a:pPr>
            <a:r>
              <a:rPr lang="en-US" sz="2661">
                <a:solidFill>
                  <a:srgbClr val="EFE7DD"/>
                </a:solidFill>
                <a:latin typeface="Sorts Mill Goudy"/>
                <a:ea typeface="Sorts Mill Goudy"/>
                <a:cs typeface="Sorts Mill Goudy"/>
                <a:sym typeface="Sorts Mill Goudy"/>
              </a:rPr>
              <a:t>The system includes the following components:</a:t>
            </a:r>
          </a:p>
          <a:p>
            <a:pPr algn="l" marL="0" indent="0" lvl="0">
              <a:lnSpc>
                <a:spcPts val="3193"/>
              </a:lnSpc>
            </a:pPr>
          </a:p>
          <a:p>
            <a:pPr algn="l" marL="574605" indent="-287303" lvl="1">
              <a:lnSpc>
                <a:spcPts val="3193"/>
              </a:lnSpc>
              <a:buFont typeface="Arial"/>
              <a:buChar char="•"/>
            </a:pPr>
            <a:r>
              <a:rPr lang="en-US" sz="2661">
                <a:solidFill>
                  <a:srgbClr val="EFE7DD"/>
                </a:solidFill>
                <a:latin typeface="Sorts Mill Goudy"/>
                <a:ea typeface="Sorts Mill Goudy"/>
                <a:cs typeface="Sorts Mill Goudy"/>
                <a:sym typeface="Sorts Mill Goudy"/>
              </a:rPr>
              <a:t>Item: Represents products in the inventory with properties like id, name, price, quantity, and supplier.</a:t>
            </a:r>
          </a:p>
          <a:p>
            <a:pPr algn="l" marL="574605" indent="-287303" lvl="1">
              <a:lnSpc>
                <a:spcPts val="3193"/>
              </a:lnSpc>
              <a:buFont typeface="Arial"/>
              <a:buChar char="•"/>
            </a:pPr>
            <a:r>
              <a:rPr lang="en-US" sz="2661">
                <a:solidFill>
                  <a:srgbClr val="EFE7DD"/>
                </a:solidFill>
                <a:latin typeface="Sorts Mill Goudy"/>
                <a:ea typeface="Sorts Mill Goudy"/>
                <a:cs typeface="Sorts Mill Goudy"/>
                <a:sym typeface="Sorts Mill Goudy"/>
              </a:rPr>
              <a:t>Supplier: Represents vendors that provide items to the inventory.</a:t>
            </a:r>
          </a:p>
          <a:p>
            <a:pPr algn="l" marL="574605" indent="-287303" lvl="1">
              <a:lnSpc>
                <a:spcPts val="3193"/>
              </a:lnSpc>
              <a:buFont typeface="Arial"/>
              <a:buChar char="•"/>
            </a:pPr>
            <a:r>
              <a:rPr lang="en-US" sz="2661">
                <a:solidFill>
                  <a:srgbClr val="EFE7DD"/>
                </a:solidFill>
                <a:latin typeface="Sorts Mill Goudy"/>
                <a:ea typeface="Sorts Mill Goudy"/>
                <a:cs typeface="Sorts Mill Goudy"/>
                <a:sym typeface="Sorts Mill Goudy"/>
              </a:rPr>
              <a:t>User (abstract): Base class for system users with common properties.</a:t>
            </a:r>
          </a:p>
          <a:p>
            <a:pPr algn="l" marL="1149211" indent="-383070" lvl="2">
              <a:lnSpc>
                <a:spcPts val="3193"/>
              </a:lnSpc>
              <a:buFont typeface="Arial"/>
              <a:buChar char="⚬"/>
            </a:pPr>
            <a:r>
              <a:rPr lang="en-US" sz="2661">
                <a:solidFill>
                  <a:srgbClr val="EFE7DD"/>
                </a:solidFill>
                <a:latin typeface="Sorts Mill Goudy"/>
                <a:ea typeface="Sorts Mill Goudy"/>
                <a:cs typeface="Sorts Mill Goudy"/>
                <a:sym typeface="Sorts Mill Goudy"/>
              </a:rPr>
              <a:t>Admin: Can add/remove items from inventory.</a:t>
            </a:r>
          </a:p>
          <a:p>
            <a:pPr algn="l" marL="1149211" indent="-383070" lvl="2">
              <a:lnSpc>
                <a:spcPts val="3193"/>
              </a:lnSpc>
              <a:buFont typeface="Arial"/>
              <a:buChar char="⚬"/>
            </a:pPr>
            <a:r>
              <a:rPr lang="en-US" sz="2661">
                <a:solidFill>
                  <a:srgbClr val="EFE7DD"/>
                </a:solidFill>
                <a:latin typeface="Sorts Mill Goudy"/>
                <a:ea typeface="Sorts Mill Goudy"/>
                <a:cs typeface="Sorts Mill Goudy"/>
                <a:sym typeface="Sorts Mill Goudy"/>
              </a:rPr>
              <a:t>Staff: Can create and process orders.</a:t>
            </a:r>
          </a:p>
          <a:p>
            <a:pPr algn="l" marL="574605" indent="-287303" lvl="1">
              <a:lnSpc>
                <a:spcPts val="3193"/>
              </a:lnSpc>
              <a:buFont typeface="Arial"/>
              <a:buChar char="•"/>
            </a:pPr>
            <a:r>
              <a:rPr lang="en-US" sz="2661">
                <a:solidFill>
                  <a:srgbClr val="EFE7DD"/>
                </a:solidFill>
                <a:latin typeface="Sorts Mill Goudy"/>
                <a:ea typeface="Sorts Mill Goudy"/>
                <a:cs typeface="Sorts Mill Goudy"/>
                <a:sym typeface="Sorts Mill Goudy"/>
              </a:rPr>
              <a:t>Order: Represents a purchase order with multiple items.</a:t>
            </a:r>
          </a:p>
          <a:p>
            <a:pPr algn="l" marL="574605" indent="-287303" lvl="1">
              <a:lnSpc>
                <a:spcPts val="3193"/>
              </a:lnSpc>
              <a:buFont typeface="Arial"/>
              <a:buChar char="•"/>
            </a:pPr>
            <a:r>
              <a:rPr lang="en-US" sz="2661">
                <a:solidFill>
                  <a:srgbClr val="EFE7DD"/>
                </a:solidFill>
                <a:latin typeface="Sorts Mill Goudy"/>
                <a:ea typeface="Sorts Mill Goudy"/>
                <a:cs typeface="Sorts Mill Goudy"/>
                <a:sym typeface="Sorts Mill Goudy"/>
              </a:rPr>
              <a:t>OrderItem: Represents a line item in an order.</a:t>
            </a:r>
          </a:p>
          <a:p>
            <a:pPr algn="l" marL="574605" indent="-287303" lvl="1">
              <a:lnSpc>
                <a:spcPts val="3193"/>
              </a:lnSpc>
              <a:buFont typeface="Arial"/>
              <a:buChar char="•"/>
            </a:pPr>
            <a:r>
              <a:rPr lang="en-US" sz="2661">
                <a:solidFill>
                  <a:srgbClr val="EFE7DD"/>
                </a:solidFill>
                <a:latin typeface="Sorts Mill Goudy"/>
                <a:ea typeface="Sorts Mill Goudy"/>
                <a:cs typeface="Sorts Mill Goudy"/>
                <a:sym typeface="Sorts Mill Goudy"/>
              </a:rPr>
              <a:t>Inventory: Manages the collection of items with methods for adding, removing, and searching.</a:t>
            </a:r>
          </a:p>
          <a:p>
            <a:pPr algn="l" marL="574605" indent="-287303" lvl="1">
              <a:lnSpc>
                <a:spcPts val="3193"/>
              </a:lnSpc>
              <a:buFont typeface="Arial"/>
              <a:buChar char="•"/>
            </a:pPr>
            <a:r>
              <a:rPr lang="en-US" sz="2661">
                <a:solidFill>
                  <a:srgbClr val="EFE7DD"/>
                </a:solidFill>
                <a:latin typeface="Sorts Mill Goudy"/>
                <a:ea typeface="Sorts Mill Goudy"/>
                <a:cs typeface="Sorts Mill Goudy"/>
                <a:sym typeface="Sorts Mill Goudy"/>
              </a:rPr>
              <a:t>InventoryManagementSystem: Main class that demonstrates the system's functionality.</a:t>
            </a:r>
          </a:p>
          <a:p>
            <a:pPr algn="l" marL="0" indent="0" lvl="0">
              <a:lnSpc>
                <a:spcPts val="3193"/>
              </a:lnSpc>
            </a:pPr>
          </a:p>
          <a:p>
            <a:pPr algn="l" marL="0" indent="0" lvl="0">
              <a:lnSpc>
                <a:spcPts val="3193"/>
              </a:lnSpc>
            </a:pPr>
            <a:r>
              <a:rPr lang="en-US" sz="2661">
                <a:solidFill>
                  <a:srgbClr val="EFE7DD"/>
                </a:solidFill>
                <a:latin typeface="Sorts Mill Goudy"/>
                <a:ea typeface="Sorts Mill Goudy"/>
                <a:cs typeface="Sorts Mill Goudy"/>
                <a:sym typeface="Sorts Mill Goudy"/>
              </a:rPr>
              <a:t>The main class demonstrates creating suppliers, items, users, adding items to inventory, creating and processing orders, and checking inventory status.</a:t>
            </a:r>
          </a:p>
        </p:txBody>
      </p:sp>
      <p:sp>
        <p:nvSpPr>
          <p:cNvPr name="Freeform 3" id="3"/>
          <p:cNvSpPr/>
          <p:nvPr/>
        </p:nvSpPr>
        <p:spPr>
          <a:xfrm flipH="true" flipV="true" rot="0">
            <a:off x="1951983" y="2633934"/>
            <a:ext cx="2847216" cy="5019131"/>
          </a:xfrm>
          <a:custGeom>
            <a:avLst/>
            <a:gdLst/>
            <a:ahLst/>
            <a:cxnLst/>
            <a:rect r="r" b="b" t="t" l="l"/>
            <a:pathLst>
              <a:path h="5019131" w="2847216">
                <a:moveTo>
                  <a:pt x="2847217" y="5019132"/>
                </a:moveTo>
                <a:lnTo>
                  <a:pt x="0" y="5019132"/>
                </a:lnTo>
                <a:lnTo>
                  <a:pt x="0" y="0"/>
                </a:lnTo>
                <a:lnTo>
                  <a:pt x="2847217" y="0"/>
                </a:lnTo>
                <a:lnTo>
                  <a:pt x="2847217" y="5019132"/>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p:cSld>
    <p:bg>
      <p:bgPr>
        <a:solidFill>
          <a:srgbClr val="9B4922"/>
        </a:solidFill>
      </p:bgPr>
    </p:bg>
    <p:spTree>
      <p:nvGrpSpPr>
        <p:cNvPr id="1" name=""/>
        <p:cNvGrpSpPr/>
        <p:nvPr/>
      </p:nvGrpSpPr>
      <p:grpSpPr>
        <a:xfrm>
          <a:off x="0" y="0"/>
          <a:ext cx="0" cy="0"/>
          <a:chOff x="0" y="0"/>
          <a:chExt cx="0" cy="0"/>
        </a:xfrm>
      </p:grpSpPr>
      <p:sp>
        <p:nvSpPr>
          <p:cNvPr name="TextBox 2" id="2"/>
          <p:cNvSpPr txBox="true"/>
          <p:nvPr/>
        </p:nvSpPr>
        <p:spPr>
          <a:xfrm rot="0">
            <a:off x="1028700" y="2924175"/>
            <a:ext cx="4549535" cy="4429125"/>
          </a:xfrm>
          <a:prstGeom prst="rect">
            <a:avLst/>
          </a:prstGeom>
        </p:spPr>
        <p:txBody>
          <a:bodyPr anchor="t" rtlCol="false" tIns="0" lIns="0" bIns="0" rIns="0">
            <a:spAutoFit/>
          </a:bodyPr>
          <a:lstStyle/>
          <a:p>
            <a:pPr algn="l" marL="0" indent="0" lvl="0">
              <a:lnSpc>
                <a:spcPts val="8730"/>
              </a:lnSpc>
            </a:pPr>
            <a:r>
              <a:rPr lang="en-US" sz="7275" spc="-145" u="none">
                <a:solidFill>
                  <a:srgbClr val="EFE7DD"/>
                </a:solidFill>
                <a:latin typeface="RoxboroughCF"/>
                <a:ea typeface="RoxboroughCF"/>
                <a:cs typeface="RoxboroughCF"/>
                <a:sym typeface="RoxboroughCF"/>
              </a:rPr>
              <a:t>Literature Review / Similar Work</a:t>
            </a:r>
          </a:p>
        </p:txBody>
      </p:sp>
      <p:sp>
        <p:nvSpPr>
          <p:cNvPr name="TextBox 3" id="3"/>
          <p:cNvSpPr txBox="true"/>
          <p:nvPr/>
        </p:nvSpPr>
        <p:spPr>
          <a:xfrm rot="0">
            <a:off x="6612693" y="3544681"/>
            <a:ext cx="11160957" cy="3746046"/>
          </a:xfrm>
          <a:prstGeom prst="rect">
            <a:avLst/>
          </a:prstGeom>
        </p:spPr>
        <p:txBody>
          <a:bodyPr anchor="t" rtlCol="false" tIns="0" lIns="0" bIns="0" rIns="0">
            <a:spAutoFit/>
          </a:bodyPr>
          <a:lstStyle/>
          <a:p>
            <a:pPr algn="l" marL="0" indent="0" lvl="0">
              <a:lnSpc>
                <a:spcPts val="2155"/>
              </a:lnSpc>
            </a:pPr>
            <a:r>
              <a:rPr lang="en-US" b="true" sz="1539">
                <a:solidFill>
                  <a:srgbClr val="EFE7DD"/>
                </a:solidFill>
                <a:latin typeface="Canva Sans Bold"/>
                <a:ea typeface="Canva Sans Bold"/>
                <a:cs typeface="Canva Sans Bold"/>
                <a:sym typeface="Canva Sans Bold"/>
              </a:rPr>
              <a:t>Inventory Management Systems (IMS) have evolved significantly with the advent of modern computing technologies. A variety of solutions—ranging from traditional desktop-based applications to cloud-enabled platforms—have been developed to streamline inventory tracking, ordering, and supply chain operations.</a:t>
            </a:r>
          </a:p>
          <a:p>
            <a:pPr algn="l" marL="0" indent="0" lvl="0">
              <a:lnSpc>
                <a:spcPts val="2155"/>
              </a:lnSpc>
            </a:pPr>
            <a:r>
              <a:rPr lang="en-US" b="true" sz="1539">
                <a:solidFill>
                  <a:srgbClr val="EFE7DD"/>
                </a:solidFill>
                <a:latin typeface="Canva Sans Bold"/>
                <a:ea typeface="Canva Sans Bold"/>
                <a:cs typeface="Canva Sans Bold"/>
                <a:sym typeface="Canva Sans Bold"/>
              </a:rPr>
              <a:t>1. Traditional Inventory Management Systems: Earlier IMS implementations were often desktop-based, developed using languages such as C++ or Java, focusing on local database storage (e.g., MS Access, SQLite). These systems primarily addressed small-scale inventory needs with limited multi-user capabilities.</a:t>
            </a:r>
          </a:p>
          <a:p>
            <a:pPr algn="l" marL="0" indent="0" lvl="0">
              <a:lnSpc>
                <a:spcPts val="2155"/>
              </a:lnSpc>
            </a:pPr>
            <a:r>
              <a:rPr lang="en-US" b="true" sz="1539">
                <a:solidFill>
                  <a:srgbClr val="EFE7DD"/>
                </a:solidFill>
                <a:latin typeface="Canva Sans Bold"/>
                <a:ea typeface="Canva Sans Bold"/>
                <a:cs typeface="Canva Sans Bold"/>
                <a:sym typeface="Canva Sans Bold"/>
              </a:rPr>
              <a:t>2. Enterprise-Level IMS (SAP, Oracle NetSuite): Modern enterprise-grade systems like SAP Inventory Management and Oracle NetSuite offer advanced features including automated reordering, multi-location support, real-time analytics, and seamless ERP integration. These systems are highly scalable but come at a significant cost and complexity.</a:t>
            </a:r>
          </a:p>
          <a:p>
            <a:pPr algn="l" marL="0" indent="0" lvl="0">
              <a:lnSpc>
                <a:spcPts val="2155"/>
              </a:lnSpc>
            </a:pPr>
            <a:r>
              <a:rPr lang="en-US" b="true" sz="1539">
                <a:solidFill>
                  <a:srgbClr val="EFE7DD"/>
                </a:solidFill>
                <a:latin typeface="Canva Sans Bold"/>
                <a:ea typeface="Canva Sans Bold"/>
                <a:cs typeface="Canva Sans Bold"/>
                <a:sym typeface="Canva Sans Bold"/>
              </a:rPr>
              <a:t>3. Open-Source Solutions: Open-source inventory systems such as Odoo, ERPNext, and inFlow Inventory provide flexible and cost-effective alternatives. These are often web-based and include modules for purchase, sales, inventory, and customer relationship management. They are typically built using Python (Odoo), JavaScript, or PHP, and rely on web technologies for their UI.</a:t>
            </a:r>
          </a:p>
        </p:txBody>
      </p:sp>
      <p:sp>
        <p:nvSpPr>
          <p:cNvPr name="AutoShape 4" id="4"/>
          <p:cNvSpPr/>
          <p:nvPr/>
        </p:nvSpPr>
        <p:spPr>
          <a:xfrm>
            <a:off x="6612693" y="3011606"/>
            <a:ext cx="11142841" cy="0"/>
          </a:xfrm>
          <a:prstGeom prst="line">
            <a:avLst/>
          </a:prstGeom>
          <a:ln cap="flat" w="28575">
            <a:solidFill>
              <a:srgbClr val="B86239"/>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9B4922"/>
        </a:solidFill>
      </p:bgPr>
    </p:bg>
    <p:spTree>
      <p:nvGrpSpPr>
        <p:cNvPr id="1" name=""/>
        <p:cNvGrpSpPr/>
        <p:nvPr/>
      </p:nvGrpSpPr>
      <p:grpSpPr>
        <a:xfrm>
          <a:off x="0" y="0"/>
          <a:ext cx="0" cy="0"/>
          <a:chOff x="0" y="0"/>
          <a:chExt cx="0" cy="0"/>
        </a:xfrm>
      </p:grpSpPr>
      <p:sp>
        <p:nvSpPr>
          <p:cNvPr name="TextBox 2" id="2"/>
          <p:cNvSpPr txBox="true"/>
          <p:nvPr/>
        </p:nvSpPr>
        <p:spPr>
          <a:xfrm rot="0">
            <a:off x="2210699" y="1995048"/>
            <a:ext cx="8022194" cy="1509700"/>
          </a:xfrm>
          <a:prstGeom prst="rect">
            <a:avLst/>
          </a:prstGeom>
        </p:spPr>
        <p:txBody>
          <a:bodyPr anchor="t" rtlCol="false" tIns="0" lIns="0" bIns="0" rIns="0">
            <a:spAutoFit/>
          </a:bodyPr>
          <a:lstStyle/>
          <a:p>
            <a:pPr algn="l" marL="0" indent="0" lvl="0">
              <a:lnSpc>
                <a:spcPts val="3936"/>
              </a:lnSpc>
            </a:pPr>
            <a:r>
              <a:rPr lang="en-US" sz="3749">
                <a:solidFill>
                  <a:srgbClr val="EFE7DD"/>
                </a:solidFill>
                <a:latin typeface="Sorts Mill Goudy"/>
                <a:ea typeface="Sorts Mill Goudy"/>
                <a:cs typeface="Sorts Mill Goudy"/>
                <a:sym typeface="Sorts Mill Goudy"/>
              </a:rPr>
              <a:t>This inventory management system demonstrates several key OOP concepts:</a:t>
            </a:r>
          </a:p>
        </p:txBody>
      </p:sp>
      <p:sp>
        <p:nvSpPr>
          <p:cNvPr name="TextBox 3" id="3"/>
          <p:cNvSpPr txBox="true"/>
          <p:nvPr/>
        </p:nvSpPr>
        <p:spPr>
          <a:xfrm rot="0">
            <a:off x="2210699" y="4719291"/>
            <a:ext cx="13866603" cy="4365625"/>
          </a:xfrm>
          <a:prstGeom prst="rect">
            <a:avLst/>
          </a:prstGeom>
        </p:spPr>
        <p:txBody>
          <a:bodyPr anchor="t" rtlCol="false" tIns="0" lIns="0" bIns="0" rIns="0">
            <a:spAutoFit/>
          </a:bodyPr>
          <a:lstStyle/>
          <a:p>
            <a:pPr algn="l" marL="539749" indent="-269875" lvl="1">
              <a:lnSpc>
                <a:spcPts val="3499"/>
              </a:lnSpc>
              <a:buAutoNum type="arabicPeriod" startAt="1"/>
            </a:pPr>
            <a:r>
              <a:rPr lang="en-US" sz="2499">
                <a:solidFill>
                  <a:srgbClr val="EFE7DD"/>
                </a:solidFill>
                <a:latin typeface="Sorts Mill Goudy"/>
                <a:ea typeface="Sorts Mill Goudy"/>
                <a:cs typeface="Sorts Mill Goudy"/>
                <a:sym typeface="Sorts Mill Goudy"/>
              </a:rPr>
              <a:t>Inheritance: The User class serves as a base class with common properties and methods, while Admin and Staff are specialized subclasses that inherit from it.</a:t>
            </a:r>
          </a:p>
          <a:p>
            <a:pPr algn="l" marL="539749" indent="-269875" lvl="1">
              <a:lnSpc>
                <a:spcPts val="3499"/>
              </a:lnSpc>
              <a:buAutoNum type="arabicPeriod" startAt="1"/>
            </a:pPr>
            <a:r>
              <a:rPr lang="en-US" sz="2499">
                <a:solidFill>
                  <a:srgbClr val="EFE7DD"/>
                </a:solidFill>
                <a:latin typeface="Sorts Mill Goudy"/>
                <a:ea typeface="Sorts Mill Goudy"/>
                <a:cs typeface="Sorts Mill Goudy"/>
                <a:sym typeface="Sorts Mill Goudy"/>
              </a:rPr>
              <a:t>Abstraction: The User class is abstract with an abstract method getRole() that must be implemented by subclasses.</a:t>
            </a:r>
          </a:p>
          <a:p>
            <a:pPr algn="l" marL="539749" indent="-269875" lvl="1">
              <a:lnSpc>
                <a:spcPts val="3499"/>
              </a:lnSpc>
              <a:buAutoNum type="arabicPeriod" startAt="1"/>
            </a:pPr>
            <a:r>
              <a:rPr lang="en-US" sz="2499">
                <a:solidFill>
                  <a:srgbClr val="EFE7DD"/>
                </a:solidFill>
                <a:latin typeface="Sorts Mill Goudy"/>
                <a:ea typeface="Sorts Mill Goudy"/>
                <a:cs typeface="Sorts Mill Goudy"/>
                <a:sym typeface="Sorts Mill Goudy"/>
              </a:rPr>
              <a:t>Encapsulation: All classes use private fields with public getters and setters to control access to their data.</a:t>
            </a:r>
          </a:p>
          <a:p>
            <a:pPr algn="l" marL="539749" indent="-269875" lvl="1">
              <a:lnSpc>
                <a:spcPts val="3499"/>
              </a:lnSpc>
              <a:buAutoNum type="arabicPeriod" startAt="1"/>
            </a:pPr>
            <a:r>
              <a:rPr lang="en-US" sz="2499">
                <a:solidFill>
                  <a:srgbClr val="EFE7DD"/>
                </a:solidFill>
                <a:latin typeface="Sorts Mill Goudy"/>
                <a:ea typeface="Sorts Mill Goudy"/>
                <a:cs typeface="Sorts Mill Goudy"/>
                <a:sym typeface="Sorts Mill Goudy"/>
              </a:rPr>
              <a:t>Polymorphism: The system uses polymorphic behavior through the User hierarchy, allowing different user types to be treated uniformly where appropriate.</a:t>
            </a:r>
          </a:p>
          <a:p>
            <a:pPr algn="l" marL="539749" indent="-269875" lvl="1">
              <a:lnSpc>
                <a:spcPts val="3499"/>
              </a:lnSpc>
              <a:buAutoNum type="arabicPeriod" startAt="1"/>
            </a:pPr>
            <a:r>
              <a:rPr lang="en-US" sz="2499">
                <a:solidFill>
                  <a:srgbClr val="EFE7DD"/>
                </a:solidFill>
                <a:latin typeface="Sorts Mill Goudy"/>
                <a:ea typeface="Sorts Mill Goudy"/>
                <a:cs typeface="Sorts Mill Goudy"/>
                <a:sym typeface="Sorts Mill Goudy"/>
              </a:rPr>
              <a:t>Composition: The system uses composition relationships (e.g., Order contains OrderItem objects, Item references a Supplier).</a:t>
            </a:r>
          </a:p>
        </p:txBody>
      </p:sp>
      <p:sp>
        <p:nvSpPr>
          <p:cNvPr name="AutoShape 4" id="4"/>
          <p:cNvSpPr/>
          <p:nvPr/>
        </p:nvSpPr>
        <p:spPr>
          <a:xfrm>
            <a:off x="2210699" y="4069111"/>
            <a:ext cx="13844095" cy="0"/>
          </a:xfrm>
          <a:prstGeom prst="line">
            <a:avLst/>
          </a:prstGeom>
          <a:ln cap="flat" w="38100">
            <a:solidFill>
              <a:srgbClr val="B86239"/>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9B4922"/>
        </a:solidFill>
      </p:bgPr>
    </p:bg>
    <p:spTree>
      <p:nvGrpSpPr>
        <p:cNvPr id="1" name=""/>
        <p:cNvGrpSpPr/>
        <p:nvPr/>
      </p:nvGrpSpPr>
      <p:grpSpPr>
        <a:xfrm>
          <a:off x="0" y="0"/>
          <a:ext cx="0" cy="0"/>
          <a:chOff x="0" y="0"/>
          <a:chExt cx="0" cy="0"/>
        </a:xfrm>
      </p:grpSpPr>
      <p:sp>
        <p:nvSpPr>
          <p:cNvPr name="AutoShape 2" id="2"/>
          <p:cNvSpPr/>
          <p:nvPr/>
        </p:nvSpPr>
        <p:spPr>
          <a:xfrm rot="0">
            <a:off x="9992923" y="1567233"/>
            <a:ext cx="7092179" cy="0"/>
          </a:xfrm>
          <a:prstGeom prst="line">
            <a:avLst/>
          </a:prstGeom>
          <a:ln cap="rnd" w="9525">
            <a:solidFill>
              <a:srgbClr val="B86239"/>
            </a:solidFill>
            <a:prstDash val="solid"/>
            <a:headEnd type="none" len="sm" w="sm"/>
            <a:tailEnd type="none" len="sm" w="sm"/>
          </a:ln>
        </p:spPr>
      </p:sp>
      <p:sp>
        <p:nvSpPr>
          <p:cNvPr name="AutoShape 3" id="3"/>
          <p:cNvSpPr/>
          <p:nvPr/>
        </p:nvSpPr>
        <p:spPr>
          <a:xfrm rot="0">
            <a:off x="9992923" y="2448928"/>
            <a:ext cx="7092179" cy="0"/>
          </a:xfrm>
          <a:prstGeom prst="line">
            <a:avLst/>
          </a:prstGeom>
          <a:ln cap="rnd" w="9525">
            <a:solidFill>
              <a:srgbClr val="B86239"/>
            </a:solidFill>
            <a:prstDash val="solid"/>
            <a:headEnd type="none" len="sm" w="sm"/>
            <a:tailEnd type="none" len="sm" w="sm"/>
          </a:ln>
        </p:spPr>
      </p:sp>
      <p:sp>
        <p:nvSpPr>
          <p:cNvPr name="AutoShape 4" id="4"/>
          <p:cNvSpPr/>
          <p:nvPr/>
        </p:nvSpPr>
        <p:spPr>
          <a:xfrm rot="0">
            <a:off x="9992923" y="3330624"/>
            <a:ext cx="7092179" cy="0"/>
          </a:xfrm>
          <a:prstGeom prst="line">
            <a:avLst/>
          </a:prstGeom>
          <a:ln cap="rnd" w="9525">
            <a:solidFill>
              <a:srgbClr val="B86239"/>
            </a:solidFill>
            <a:prstDash val="solid"/>
            <a:headEnd type="none" len="sm" w="sm"/>
            <a:tailEnd type="none" len="sm" w="sm"/>
          </a:ln>
        </p:spPr>
      </p:sp>
      <p:sp>
        <p:nvSpPr>
          <p:cNvPr name="AutoShape 5" id="5"/>
          <p:cNvSpPr/>
          <p:nvPr/>
        </p:nvSpPr>
        <p:spPr>
          <a:xfrm rot="0">
            <a:off x="9992923" y="4212319"/>
            <a:ext cx="7092179" cy="0"/>
          </a:xfrm>
          <a:prstGeom prst="line">
            <a:avLst/>
          </a:prstGeom>
          <a:ln cap="rnd" w="9525">
            <a:solidFill>
              <a:srgbClr val="B86239"/>
            </a:solidFill>
            <a:prstDash val="solid"/>
            <a:headEnd type="none" len="sm" w="sm"/>
            <a:tailEnd type="none" len="sm" w="sm"/>
          </a:ln>
        </p:spPr>
      </p:sp>
      <p:sp>
        <p:nvSpPr>
          <p:cNvPr name="AutoShape 6" id="6"/>
          <p:cNvSpPr/>
          <p:nvPr/>
        </p:nvSpPr>
        <p:spPr>
          <a:xfrm rot="0">
            <a:off x="9992923" y="5094015"/>
            <a:ext cx="7092179" cy="0"/>
          </a:xfrm>
          <a:prstGeom prst="line">
            <a:avLst/>
          </a:prstGeom>
          <a:ln cap="rnd" w="9525">
            <a:solidFill>
              <a:srgbClr val="B86239"/>
            </a:solidFill>
            <a:prstDash val="solid"/>
            <a:headEnd type="none" len="sm" w="sm"/>
            <a:tailEnd type="none" len="sm" w="sm"/>
          </a:ln>
        </p:spPr>
      </p:sp>
      <p:sp>
        <p:nvSpPr>
          <p:cNvPr name="AutoShape 7" id="7"/>
          <p:cNvSpPr/>
          <p:nvPr/>
        </p:nvSpPr>
        <p:spPr>
          <a:xfrm rot="0">
            <a:off x="9992923" y="6846645"/>
            <a:ext cx="7092179" cy="0"/>
          </a:xfrm>
          <a:prstGeom prst="line">
            <a:avLst/>
          </a:prstGeom>
          <a:ln cap="rnd" w="9525">
            <a:solidFill>
              <a:srgbClr val="B86239"/>
            </a:solidFill>
            <a:prstDash val="solid"/>
            <a:headEnd type="none" len="sm" w="sm"/>
            <a:tailEnd type="none" len="sm" w="sm"/>
          </a:ln>
        </p:spPr>
      </p:sp>
      <p:sp>
        <p:nvSpPr>
          <p:cNvPr name="AutoShape 8" id="8"/>
          <p:cNvSpPr/>
          <p:nvPr/>
        </p:nvSpPr>
        <p:spPr>
          <a:xfrm rot="0">
            <a:off x="9992923" y="7739101"/>
            <a:ext cx="7092179" cy="0"/>
          </a:xfrm>
          <a:prstGeom prst="line">
            <a:avLst/>
          </a:prstGeom>
          <a:ln cap="rnd" w="9525">
            <a:solidFill>
              <a:srgbClr val="B86239"/>
            </a:solidFill>
            <a:prstDash val="solid"/>
            <a:headEnd type="none" len="sm" w="sm"/>
            <a:tailEnd type="none" len="sm" w="sm"/>
          </a:ln>
        </p:spPr>
      </p:sp>
      <p:sp>
        <p:nvSpPr>
          <p:cNvPr name="AutoShape 9" id="9"/>
          <p:cNvSpPr/>
          <p:nvPr/>
        </p:nvSpPr>
        <p:spPr>
          <a:xfrm rot="0">
            <a:off x="9992923" y="8620796"/>
            <a:ext cx="7092179" cy="0"/>
          </a:xfrm>
          <a:prstGeom prst="line">
            <a:avLst/>
          </a:prstGeom>
          <a:ln cap="rnd" w="9525">
            <a:solidFill>
              <a:srgbClr val="B86239"/>
            </a:solidFill>
            <a:prstDash val="solid"/>
            <a:headEnd type="none" len="sm" w="sm"/>
            <a:tailEnd type="none" len="sm" w="sm"/>
          </a:ln>
        </p:spPr>
      </p:sp>
      <p:sp>
        <p:nvSpPr>
          <p:cNvPr name="TextBox 10" id="10"/>
          <p:cNvSpPr txBox="true"/>
          <p:nvPr/>
        </p:nvSpPr>
        <p:spPr>
          <a:xfrm rot="0">
            <a:off x="11413520" y="1070283"/>
            <a:ext cx="5012986" cy="196691"/>
          </a:xfrm>
          <a:prstGeom prst="rect">
            <a:avLst/>
          </a:prstGeom>
        </p:spPr>
        <p:txBody>
          <a:bodyPr anchor="t" rtlCol="false" tIns="0" lIns="0" bIns="0" rIns="0">
            <a:spAutoFit/>
          </a:bodyPr>
          <a:lstStyle/>
          <a:p>
            <a:pPr algn="l" marL="0" indent="0" lvl="0">
              <a:lnSpc>
                <a:spcPts val="1631"/>
              </a:lnSpc>
            </a:pPr>
            <a:r>
              <a:rPr lang="en-US" sz="1087" spc="173">
                <a:solidFill>
                  <a:srgbClr val="EFE7DD"/>
                </a:solidFill>
                <a:latin typeface="Montserrat"/>
                <a:ea typeface="Montserrat"/>
                <a:cs typeface="Montserrat"/>
                <a:sym typeface="Montserrat"/>
              </a:rPr>
              <a:t>THE SYSTEM INCLUDES THE FOLLOWING COMPONENTS:</a:t>
            </a:r>
          </a:p>
        </p:txBody>
      </p:sp>
      <p:sp>
        <p:nvSpPr>
          <p:cNvPr name="TextBox 11" id="11"/>
          <p:cNvSpPr txBox="true"/>
          <p:nvPr/>
        </p:nvSpPr>
        <p:spPr>
          <a:xfrm rot="0">
            <a:off x="11413520" y="1870606"/>
            <a:ext cx="5012986" cy="353828"/>
          </a:xfrm>
          <a:prstGeom prst="rect">
            <a:avLst/>
          </a:prstGeom>
        </p:spPr>
        <p:txBody>
          <a:bodyPr anchor="t" rtlCol="false" tIns="0" lIns="0" bIns="0" rIns="0">
            <a:spAutoFit/>
          </a:bodyPr>
          <a:lstStyle/>
          <a:p>
            <a:pPr algn="l" marL="0" indent="0" lvl="0">
              <a:lnSpc>
                <a:spcPts val="1444"/>
              </a:lnSpc>
            </a:pPr>
            <a:r>
              <a:rPr lang="en-US" sz="963" spc="154">
                <a:solidFill>
                  <a:srgbClr val="EFE7DD"/>
                </a:solidFill>
                <a:latin typeface="Montserrat"/>
                <a:ea typeface="Montserrat"/>
                <a:cs typeface="Montserrat"/>
                <a:sym typeface="Montserrat"/>
              </a:rPr>
              <a:t>ITEM: REPRESENTS PRODUCTS IN THE INVENTORY WITH PROPERTIES LIKE ID, NAME, PRICE, QUANTITY, AND SUPPLIER.</a:t>
            </a:r>
          </a:p>
        </p:txBody>
      </p:sp>
      <p:sp>
        <p:nvSpPr>
          <p:cNvPr name="TextBox 12" id="12"/>
          <p:cNvSpPr txBox="true"/>
          <p:nvPr/>
        </p:nvSpPr>
        <p:spPr>
          <a:xfrm rot="0">
            <a:off x="11413520" y="2850775"/>
            <a:ext cx="5012986" cy="141746"/>
          </a:xfrm>
          <a:prstGeom prst="rect">
            <a:avLst/>
          </a:prstGeom>
        </p:spPr>
        <p:txBody>
          <a:bodyPr anchor="t" rtlCol="false" tIns="0" lIns="0" bIns="0" rIns="0">
            <a:spAutoFit/>
          </a:bodyPr>
          <a:lstStyle/>
          <a:p>
            <a:pPr algn="l" marL="0" indent="0" lvl="0">
              <a:lnSpc>
                <a:spcPts val="1169"/>
              </a:lnSpc>
            </a:pPr>
            <a:r>
              <a:rPr lang="en-US" sz="779" spc="124">
                <a:solidFill>
                  <a:srgbClr val="EFE7DD"/>
                </a:solidFill>
                <a:latin typeface="Montserrat"/>
                <a:ea typeface="Montserrat"/>
                <a:cs typeface="Montserrat"/>
                <a:sym typeface="Montserrat"/>
              </a:rPr>
              <a:t>SUPPLIER: REPRESENTS VENDORS THAT PROVIDE ITEMS TO THE INVENTORY.</a:t>
            </a:r>
          </a:p>
        </p:txBody>
      </p:sp>
      <p:sp>
        <p:nvSpPr>
          <p:cNvPr name="TextBox 13" id="13"/>
          <p:cNvSpPr txBox="true"/>
          <p:nvPr/>
        </p:nvSpPr>
        <p:spPr>
          <a:xfrm rot="0">
            <a:off x="11413520" y="3566224"/>
            <a:ext cx="5012986" cy="449580"/>
          </a:xfrm>
          <a:prstGeom prst="rect">
            <a:avLst/>
          </a:prstGeom>
        </p:spPr>
        <p:txBody>
          <a:bodyPr anchor="t" rtlCol="false" tIns="0" lIns="0" bIns="0" rIns="0">
            <a:spAutoFit/>
          </a:bodyPr>
          <a:lstStyle/>
          <a:p>
            <a:pPr algn="l" marL="0" indent="0" lvl="0">
              <a:lnSpc>
                <a:spcPts val="1800"/>
              </a:lnSpc>
            </a:pPr>
            <a:r>
              <a:rPr lang="en-US" sz="1200" spc="192">
                <a:solidFill>
                  <a:srgbClr val="EFE7DD"/>
                </a:solidFill>
                <a:latin typeface="Montserrat"/>
                <a:ea typeface="Montserrat"/>
                <a:cs typeface="Montserrat"/>
                <a:sym typeface="Montserrat"/>
              </a:rPr>
              <a:t>USER (ABSTRACT): BASE CLASS FOR SYSTEM USERS WITH COMMON PROPERTIES.</a:t>
            </a:r>
          </a:p>
        </p:txBody>
      </p:sp>
      <p:sp>
        <p:nvSpPr>
          <p:cNvPr name="TextBox 14" id="14"/>
          <p:cNvSpPr txBox="true"/>
          <p:nvPr/>
        </p:nvSpPr>
        <p:spPr>
          <a:xfrm rot="0">
            <a:off x="11413520" y="4558558"/>
            <a:ext cx="5012986" cy="213170"/>
          </a:xfrm>
          <a:prstGeom prst="rect">
            <a:avLst/>
          </a:prstGeom>
        </p:spPr>
        <p:txBody>
          <a:bodyPr anchor="t" rtlCol="false" tIns="0" lIns="0" bIns="0" rIns="0">
            <a:spAutoFit/>
          </a:bodyPr>
          <a:lstStyle/>
          <a:p>
            <a:pPr algn="l" marL="0" indent="0" lvl="0">
              <a:lnSpc>
                <a:spcPts val="1732"/>
              </a:lnSpc>
            </a:pPr>
            <a:r>
              <a:rPr lang="en-US" sz="1155" spc="184">
                <a:solidFill>
                  <a:srgbClr val="EFE7DD"/>
                </a:solidFill>
                <a:latin typeface="Montserrat"/>
                <a:ea typeface="Montserrat"/>
                <a:cs typeface="Montserrat"/>
                <a:sym typeface="Montserrat"/>
              </a:rPr>
              <a:t>ADMIN: CAN ADD/REMOVE ITEMS FROM INVENTORY.</a:t>
            </a:r>
          </a:p>
        </p:txBody>
      </p:sp>
      <p:sp>
        <p:nvSpPr>
          <p:cNvPr name="TextBox 15" id="15"/>
          <p:cNvSpPr txBox="true"/>
          <p:nvPr/>
        </p:nvSpPr>
        <p:spPr>
          <a:xfrm rot="0">
            <a:off x="9977048" y="1015026"/>
            <a:ext cx="818665" cy="326255"/>
          </a:xfrm>
          <a:prstGeom prst="rect">
            <a:avLst/>
          </a:prstGeom>
        </p:spPr>
        <p:txBody>
          <a:bodyPr anchor="t" rtlCol="false" tIns="0" lIns="0" bIns="0" rIns="0">
            <a:spAutoFit/>
          </a:bodyPr>
          <a:lstStyle/>
          <a:p>
            <a:pPr algn="ctr" marL="0" indent="0" lvl="0">
              <a:lnSpc>
                <a:spcPts val="2678"/>
              </a:lnSpc>
              <a:spcBef>
                <a:spcPct val="0"/>
              </a:spcBef>
            </a:pPr>
            <a:r>
              <a:rPr lang="en-US" sz="2060" spc="329">
                <a:solidFill>
                  <a:srgbClr val="EFE7DD"/>
                </a:solidFill>
                <a:latin typeface="Montserrat"/>
                <a:ea typeface="Montserrat"/>
                <a:cs typeface="Montserrat"/>
                <a:sym typeface="Montserrat"/>
              </a:rPr>
              <a:t>0</a:t>
            </a:r>
            <a:r>
              <a:rPr lang="en-US" sz="2060" spc="329" u="none">
                <a:solidFill>
                  <a:srgbClr val="EFE7DD"/>
                </a:solidFill>
                <a:latin typeface="Montserrat"/>
                <a:ea typeface="Montserrat"/>
                <a:cs typeface="Montserrat"/>
                <a:sym typeface="Montserrat"/>
              </a:rPr>
              <a:t>1</a:t>
            </a:r>
          </a:p>
        </p:txBody>
      </p:sp>
      <p:sp>
        <p:nvSpPr>
          <p:cNvPr name="TextBox 16" id="16"/>
          <p:cNvSpPr txBox="true"/>
          <p:nvPr/>
        </p:nvSpPr>
        <p:spPr>
          <a:xfrm rot="0">
            <a:off x="9977048" y="1889155"/>
            <a:ext cx="818665" cy="326255"/>
          </a:xfrm>
          <a:prstGeom prst="rect">
            <a:avLst/>
          </a:prstGeom>
        </p:spPr>
        <p:txBody>
          <a:bodyPr anchor="t" rtlCol="false" tIns="0" lIns="0" bIns="0" rIns="0">
            <a:spAutoFit/>
          </a:bodyPr>
          <a:lstStyle/>
          <a:p>
            <a:pPr algn="ctr" marL="0" indent="0" lvl="0">
              <a:lnSpc>
                <a:spcPts val="2678"/>
              </a:lnSpc>
              <a:spcBef>
                <a:spcPct val="0"/>
              </a:spcBef>
            </a:pPr>
            <a:r>
              <a:rPr lang="en-US" sz="2060" spc="329">
                <a:solidFill>
                  <a:srgbClr val="EFE7DD"/>
                </a:solidFill>
                <a:latin typeface="Montserrat"/>
                <a:ea typeface="Montserrat"/>
                <a:cs typeface="Montserrat"/>
                <a:sym typeface="Montserrat"/>
              </a:rPr>
              <a:t>02</a:t>
            </a:r>
          </a:p>
        </p:txBody>
      </p:sp>
      <p:sp>
        <p:nvSpPr>
          <p:cNvPr name="TextBox 17" id="17"/>
          <p:cNvSpPr txBox="true"/>
          <p:nvPr/>
        </p:nvSpPr>
        <p:spPr>
          <a:xfrm rot="0">
            <a:off x="9977048" y="2763283"/>
            <a:ext cx="818665" cy="326255"/>
          </a:xfrm>
          <a:prstGeom prst="rect">
            <a:avLst/>
          </a:prstGeom>
        </p:spPr>
        <p:txBody>
          <a:bodyPr anchor="t" rtlCol="false" tIns="0" lIns="0" bIns="0" rIns="0">
            <a:spAutoFit/>
          </a:bodyPr>
          <a:lstStyle/>
          <a:p>
            <a:pPr algn="ctr" marL="0" indent="0" lvl="0">
              <a:lnSpc>
                <a:spcPts val="2678"/>
              </a:lnSpc>
              <a:spcBef>
                <a:spcPct val="0"/>
              </a:spcBef>
            </a:pPr>
            <a:r>
              <a:rPr lang="en-US" sz="2060" spc="329">
                <a:solidFill>
                  <a:srgbClr val="EFE7DD"/>
                </a:solidFill>
                <a:latin typeface="Montserrat"/>
                <a:ea typeface="Montserrat"/>
                <a:cs typeface="Montserrat"/>
                <a:sym typeface="Montserrat"/>
              </a:rPr>
              <a:t>03</a:t>
            </a:r>
          </a:p>
        </p:txBody>
      </p:sp>
      <p:sp>
        <p:nvSpPr>
          <p:cNvPr name="TextBox 18" id="18"/>
          <p:cNvSpPr txBox="true"/>
          <p:nvPr/>
        </p:nvSpPr>
        <p:spPr>
          <a:xfrm rot="0">
            <a:off x="9977048" y="3637411"/>
            <a:ext cx="818665" cy="326255"/>
          </a:xfrm>
          <a:prstGeom prst="rect">
            <a:avLst/>
          </a:prstGeom>
        </p:spPr>
        <p:txBody>
          <a:bodyPr anchor="t" rtlCol="false" tIns="0" lIns="0" bIns="0" rIns="0">
            <a:spAutoFit/>
          </a:bodyPr>
          <a:lstStyle/>
          <a:p>
            <a:pPr algn="ctr" marL="0" indent="0" lvl="0">
              <a:lnSpc>
                <a:spcPts val="2678"/>
              </a:lnSpc>
              <a:spcBef>
                <a:spcPct val="0"/>
              </a:spcBef>
            </a:pPr>
            <a:r>
              <a:rPr lang="en-US" sz="2060" spc="329">
                <a:solidFill>
                  <a:srgbClr val="EFE7DD"/>
                </a:solidFill>
                <a:latin typeface="Montserrat"/>
                <a:ea typeface="Montserrat"/>
                <a:cs typeface="Montserrat"/>
                <a:sym typeface="Montserrat"/>
              </a:rPr>
              <a:t>04</a:t>
            </a:r>
          </a:p>
        </p:txBody>
      </p:sp>
      <p:sp>
        <p:nvSpPr>
          <p:cNvPr name="TextBox 19" id="19"/>
          <p:cNvSpPr txBox="true"/>
          <p:nvPr/>
        </p:nvSpPr>
        <p:spPr>
          <a:xfrm rot="0">
            <a:off x="9977048" y="4511540"/>
            <a:ext cx="818665" cy="326255"/>
          </a:xfrm>
          <a:prstGeom prst="rect">
            <a:avLst/>
          </a:prstGeom>
        </p:spPr>
        <p:txBody>
          <a:bodyPr anchor="t" rtlCol="false" tIns="0" lIns="0" bIns="0" rIns="0">
            <a:spAutoFit/>
          </a:bodyPr>
          <a:lstStyle/>
          <a:p>
            <a:pPr algn="ctr" marL="0" indent="0" lvl="0">
              <a:lnSpc>
                <a:spcPts val="2678"/>
              </a:lnSpc>
              <a:spcBef>
                <a:spcPct val="0"/>
              </a:spcBef>
            </a:pPr>
            <a:r>
              <a:rPr lang="en-US" sz="2060" spc="329">
                <a:solidFill>
                  <a:srgbClr val="EFE7DD"/>
                </a:solidFill>
                <a:latin typeface="Montserrat"/>
                <a:ea typeface="Montserrat"/>
                <a:cs typeface="Montserrat"/>
                <a:sym typeface="Montserrat"/>
              </a:rPr>
              <a:t>05</a:t>
            </a:r>
          </a:p>
        </p:txBody>
      </p:sp>
      <p:sp>
        <p:nvSpPr>
          <p:cNvPr name="TextBox 20" id="20"/>
          <p:cNvSpPr txBox="true"/>
          <p:nvPr/>
        </p:nvSpPr>
        <p:spPr>
          <a:xfrm rot="0">
            <a:off x="9977048" y="6259797"/>
            <a:ext cx="818665" cy="326255"/>
          </a:xfrm>
          <a:prstGeom prst="rect">
            <a:avLst/>
          </a:prstGeom>
        </p:spPr>
        <p:txBody>
          <a:bodyPr anchor="t" rtlCol="false" tIns="0" lIns="0" bIns="0" rIns="0">
            <a:spAutoFit/>
          </a:bodyPr>
          <a:lstStyle/>
          <a:p>
            <a:pPr algn="ctr" marL="0" indent="0" lvl="0">
              <a:lnSpc>
                <a:spcPts val="2678"/>
              </a:lnSpc>
              <a:spcBef>
                <a:spcPct val="0"/>
              </a:spcBef>
            </a:pPr>
            <a:r>
              <a:rPr lang="en-US" sz="2060" spc="329">
                <a:solidFill>
                  <a:srgbClr val="EFE7DD"/>
                </a:solidFill>
                <a:latin typeface="Montserrat"/>
                <a:ea typeface="Montserrat"/>
                <a:cs typeface="Montserrat"/>
                <a:sym typeface="Montserrat"/>
              </a:rPr>
              <a:t>06</a:t>
            </a:r>
          </a:p>
        </p:txBody>
      </p:sp>
      <p:sp>
        <p:nvSpPr>
          <p:cNvPr name="TextBox 21" id="21"/>
          <p:cNvSpPr txBox="true"/>
          <p:nvPr/>
        </p:nvSpPr>
        <p:spPr>
          <a:xfrm rot="0">
            <a:off x="9977048" y="7133925"/>
            <a:ext cx="818665" cy="326255"/>
          </a:xfrm>
          <a:prstGeom prst="rect">
            <a:avLst/>
          </a:prstGeom>
        </p:spPr>
        <p:txBody>
          <a:bodyPr anchor="t" rtlCol="false" tIns="0" lIns="0" bIns="0" rIns="0">
            <a:spAutoFit/>
          </a:bodyPr>
          <a:lstStyle/>
          <a:p>
            <a:pPr algn="ctr" marL="0" indent="0" lvl="0">
              <a:lnSpc>
                <a:spcPts val="2678"/>
              </a:lnSpc>
              <a:spcBef>
                <a:spcPct val="0"/>
              </a:spcBef>
            </a:pPr>
            <a:r>
              <a:rPr lang="en-US" sz="2060" spc="329">
                <a:solidFill>
                  <a:srgbClr val="EFE7DD"/>
                </a:solidFill>
                <a:latin typeface="Montserrat"/>
                <a:ea typeface="Montserrat"/>
                <a:cs typeface="Montserrat"/>
                <a:sym typeface="Montserrat"/>
              </a:rPr>
              <a:t>07</a:t>
            </a:r>
          </a:p>
        </p:txBody>
      </p:sp>
      <p:sp>
        <p:nvSpPr>
          <p:cNvPr name="TextBox 22" id="22"/>
          <p:cNvSpPr txBox="true"/>
          <p:nvPr/>
        </p:nvSpPr>
        <p:spPr>
          <a:xfrm rot="0">
            <a:off x="9977048" y="8018814"/>
            <a:ext cx="818665" cy="326255"/>
          </a:xfrm>
          <a:prstGeom prst="rect">
            <a:avLst/>
          </a:prstGeom>
        </p:spPr>
        <p:txBody>
          <a:bodyPr anchor="t" rtlCol="false" tIns="0" lIns="0" bIns="0" rIns="0">
            <a:spAutoFit/>
          </a:bodyPr>
          <a:lstStyle/>
          <a:p>
            <a:pPr algn="ctr" marL="0" indent="0" lvl="0">
              <a:lnSpc>
                <a:spcPts val="2678"/>
              </a:lnSpc>
              <a:spcBef>
                <a:spcPct val="0"/>
              </a:spcBef>
            </a:pPr>
            <a:r>
              <a:rPr lang="en-US" sz="2060" spc="329">
                <a:solidFill>
                  <a:srgbClr val="EFE7DD"/>
                </a:solidFill>
                <a:latin typeface="Montserrat"/>
                <a:ea typeface="Montserrat"/>
                <a:cs typeface="Montserrat"/>
                <a:sym typeface="Montserrat"/>
              </a:rPr>
              <a:t>07</a:t>
            </a:r>
          </a:p>
        </p:txBody>
      </p:sp>
      <p:sp>
        <p:nvSpPr>
          <p:cNvPr name="TextBox 23" id="23"/>
          <p:cNvSpPr txBox="true"/>
          <p:nvPr/>
        </p:nvSpPr>
        <p:spPr>
          <a:xfrm rot="0">
            <a:off x="9977048" y="8893154"/>
            <a:ext cx="818665" cy="326255"/>
          </a:xfrm>
          <a:prstGeom prst="rect">
            <a:avLst/>
          </a:prstGeom>
        </p:spPr>
        <p:txBody>
          <a:bodyPr anchor="t" rtlCol="false" tIns="0" lIns="0" bIns="0" rIns="0">
            <a:spAutoFit/>
          </a:bodyPr>
          <a:lstStyle/>
          <a:p>
            <a:pPr algn="ctr" marL="0" indent="0" lvl="0">
              <a:lnSpc>
                <a:spcPts val="2678"/>
              </a:lnSpc>
              <a:spcBef>
                <a:spcPct val="0"/>
              </a:spcBef>
            </a:pPr>
            <a:r>
              <a:rPr lang="en-US" sz="2060" spc="329">
                <a:solidFill>
                  <a:srgbClr val="EFE7DD"/>
                </a:solidFill>
                <a:latin typeface="Montserrat"/>
                <a:ea typeface="Montserrat"/>
                <a:cs typeface="Montserrat"/>
                <a:sym typeface="Montserrat"/>
              </a:rPr>
              <a:t>09</a:t>
            </a:r>
          </a:p>
        </p:txBody>
      </p:sp>
      <p:sp>
        <p:nvSpPr>
          <p:cNvPr name="TextBox 24" id="24"/>
          <p:cNvSpPr txBox="true"/>
          <p:nvPr/>
        </p:nvSpPr>
        <p:spPr>
          <a:xfrm rot="0">
            <a:off x="11413520" y="6335544"/>
            <a:ext cx="5012986" cy="165235"/>
          </a:xfrm>
          <a:prstGeom prst="rect">
            <a:avLst/>
          </a:prstGeom>
        </p:spPr>
        <p:txBody>
          <a:bodyPr anchor="t" rtlCol="false" tIns="0" lIns="0" bIns="0" rIns="0">
            <a:spAutoFit/>
          </a:bodyPr>
          <a:lstStyle/>
          <a:p>
            <a:pPr algn="l" marL="0" indent="0" lvl="0">
              <a:lnSpc>
                <a:spcPts val="1369"/>
              </a:lnSpc>
            </a:pPr>
            <a:r>
              <a:rPr lang="en-US" sz="913" spc="146">
                <a:solidFill>
                  <a:srgbClr val="EFE7DD"/>
                </a:solidFill>
                <a:latin typeface="Montserrat"/>
                <a:ea typeface="Montserrat"/>
                <a:cs typeface="Montserrat"/>
                <a:sym typeface="Montserrat"/>
              </a:rPr>
              <a:t>ORDER: REPRESENTS A PURCHASE ORDER WITH MULTIPLE ITEMS.</a:t>
            </a:r>
          </a:p>
        </p:txBody>
      </p:sp>
      <p:sp>
        <p:nvSpPr>
          <p:cNvPr name="TextBox 25" id="25"/>
          <p:cNvSpPr txBox="true"/>
          <p:nvPr/>
        </p:nvSpPr>
        <p:spPr>
          <a:xfrm rot="0">
            <a:off x="11413520" y="7185134"/>
            <a:ext cx="5012986" cy="204788"/>
          </a:xfrm>
          <a:prstGeom prst="rect">
            <a:avLst/>
          </a:prstGeom>
        </p:spPr>
        <p:txBody>
          <a:bodyPr anchor="t" rtlCol="false" tIns="0" lIns="0" bIns="0" rIns="0">
            <a:spAutoFit/>
          </a:bodyPr>
          <a:lstStyle/>
          <a:p>
            <a:pPr algn="l" marL="0" indent="0" lvl="0">
              <a:lnSpc>
                <a:spcPts val="1687"/>
              </a:lnSpc>
            </a:pPr>
            <a:r>
              <a:rPr lang="en-US" sz="1125" spc="179">
                <a:solidFill>
                  <a:srgbClr val="EFE7DD"/>
                </a:solidFill>
                <a:latin typeface="Montserrat"/>
                <a:ea typeface="Montserrat"/>
                <a:cs typeface="Montserrat"/>
                <a:sym typeface="Montserrat"/>
              </a:rPr>
              <a:t>ORDERITEM: REPRESENTS A LINE ITEM IN AN ORDER.</a:t>
            </a:r>
          </a:p>
        </p:txBody>
      </p:sp>
      <p:sp>
        <p:nvSpPr>
          <p:cNvPr name="TextBox 26" id="26"/>
          <p:cNvSpPr txBox="true"/>
          <p:nvPr/>
        </p:nvSpPr>
        <p:spPr>
          <a:xfrm rot="0">
            <a:off x="11413520" y="7983122"/>
            <a:ext cx="5012986" cy="388113"/>
          </a:xfrm>
          <a:prstGeom prst="rect">
            <a:avLst/>
          </a:prstGeom>
        </p:spPr>
        <p:txBody>
          <a:bodyPr anchor="t" rtlCol="false" tIns="0" lIns="0" bIns="0" rIns="0">
            <a:spAutoFit/>
          </a:bodyPr>
          <a:lstStyle/>
          <a:p>
            <a:pPr algn="l" marL="0" indent="0" lvl="0">
              <a:lnSpc>
                <a:spcPts val="1594"/>
              </a:lnSpc>
            </a:pPr>
            <a:r>
              <a:rPr lang="en-US" sz="1063" spc="170">
                <a:solidFill>
                  <a:srgbClr val="EFE7DD"/>
                </a:solidFill>
                <a:latin typeface="Montserrat"/>
                <a:ea typeface="Montserrat"/>
                <a:cs typeface="Montserrat"/>
                <a:sym typeface="Montserrat"/>
              </a:rPr>
              <a:t>INVENTORY: MANAGES THE COLLECTION OF ITEMS WITH METHODS FOR ADDING, REMOVING, AND SEARCHING.</a:t>
            </a:r>
          </a:p>
        </p:txBody>
      </p:sp>
      <p:sp>
        <p:nvSpPr>
          <p:cNvPr name="TextBox 27" id="27"/>
          <p:cNvSpPr txBox="true"/>
          <p:nvPr/>
        </p:nvSpPr>
        <p:spPr>
          <a:xfrm rot="0">
            <a:off x="11413520" y="8840016"/>
            <a:ext cx="5012986" cy="413480"/>
          </a:xfrm>
          <a:prstGeom prst="rect">
            <a:avLst/>
          </a:prstGeom>
        </p:spPr>
        <p:txBody>
          <a:bodyPr anchor="t" rtlCol="false" tIns="0" lIns="0" bIns="0" rIns="0">
            <a:spAutoFit/>
          </a:bodyPr>
          <a:lstStyle/>
          <a:p>
            <a:pPr algn="l" marL="0" indent="0" lvl="0">
              <a:lnSpc>
                <a:spcPts val="1721"/>
              </a:lnSpc>
            </a:pPr>
            <a:r>
              <a:rPr lang="en-US" sz="1147" spc="183">
                <a:solidFill>
                  <a:srgbClr val="EFE7DD"/>
                </a:solidFill>
                <a:latin typeface="Montserrat"/>
                <a:ea typeface="Montserrat"/>
                <a:cs typeface="Montserrat"/>
                <a:sym typeface="Montserrat"/>
              </a:rPr>
              <a:t>INVENTORYMANAGEMENTSYSTEM: MAIN CLASS THAT DEMONSTRATES THE SYSTEM'S FUNCTIONALITY.</a:t>
            </a:r>
          </a:p>
        </p:txBody>
      </p:sp>
      <p:sp>
        <p:nvSpPr>
          <p:cNvPr name="TextBox 28" id="28"/>
          <p:cNvSpPr txBox="true"/>
          <p:nvPr/>
        </p:nvSpPr>
        <p:spPr>
          <a:xfrm rot="0">
            <a:off x="1028700" y="3489672"/>
            <a:ext cx="7578725" cy="1724025"/>
          </a:xfrm>
          <a:prstGeom prst="rect">
            <a:avLst/>
          </a:prstGeom>
        </p:spPr>
        <p:txBody>
          <a:bodyPr anchor="t" rtlCol="false" tIns="0" lIns="0" bIns="0" rIns="0">
            <a:spAutoFit/>
          </a:bodyPr>
          <a:lstStyle/>
          <a:p>
            <a:pPr algn="l" marL="0" indent="0" lvl="0">
              <a:lnSpc>
                <a:spcPts val="6805"/>
              </a:lnSpc>
            </a:pPr>
            <a:r>
              <a:rPr lang="en-US" sz="5670" spc="907">
                <a:solidFill>
                  <a:srgbClr val="EFE7DD"/>
                </a:solidFill>
                <a:latin typeface="Montserrat"/>
                <a:ea typeface="Montserrat"/>
                <a:cs typeface="Montserrat"/>
                <a:sym typeface="Montserrat"/>
              </a:rPr>
              <a:t>CURRENT STATUS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B4922"/>
        </a:solidFill>
      </p:bgPr>
    </p:bg>
    <p:spTree>
      <p:nvGrpSpPr>
        <p:cNvPr id="1" name=""/>
        <p:cNvGrpSpPr/>
        <p:nvPr/>
      </p:nvGrpSpPr>
      <p:grpSpPr>
        <a:xfrm>
          <a:off x="0" y="0"/>
          <a:ext cx="0" cy="0"/>
          <a:chOff x="0" y="0"/>
          <a:chExt cx="0" cy="0"/>
        </a:xfrm>
      </p:grpSpPr>
      <p:sp>
        <p:nvSpPr>
          <p:cNvPr name="Freeform 2" id="2"/>
          <p:cNvSpPr/>
          <p:nvPr/>
        </p:nvSpPr>
        <p:spPr>
          <a:xfrm flipH="false" flipV="false" rot="0">
            <a:off x="2487132" y="2623628"/>
            <a:ext cx="13313735" cy="5325494"/>
          </a:xfrm>
          <a:custGeom>
            <a:avLst/>
            <a:gdLst/>
            <a:ahLst/>
            <a:cxnLst/>
            <a:rect r="r" b="b" t="t" l="l"/>
            <a:pathLst>
              <a:path h="5325494" w="13313735">
                <a:moveTo>
                  <a:pt x="0" y="0"/>
                </a:moveTo>
                <a:lnTo>
                  <a:pt x="13313736" y="0"/>
                </a:lnTo>
                <a:lnTo>
                  <a:pt x="13313736" y="5325494"/>
                </a:lnTo>
                <a:lnTo>
                  <a:pt x="0" y="532549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992901" y="3233478"/>
            <a:ext cx="14302199" cy="3820044"/>
            <a:chOff x="0" y="0"/>
            <a:chExt cx="19069598" cy="5093392"/>
          </a:xfrm>
        </p:grpSpPr>
        <p:sp>
          <p:nvSpPr>
            <p:cNvPr name="TextBox 4" id="4"/>
            <p:cNvSpPr txBox="true"/>
            <p:nvPr/>
          </p:nvSpPr>
          <p:spPr>
            <a:xfrm rot="0">
              <a:off x="0" y="104775"/>
              <a:ext cx="19069598" cy="3896503"/>
            </a:xfrm>
            <a:prstGeom prst="rect">
              <a:avLst/>
            </a:prstGeom>
          </p:spPr>
          <p:txBody>
            <a:bodyPr anchor="t" rtlCol="false" tIns="0" lIns="0" bIns="0" rIns="0">
              <a:spAutoFit/>
            </a:bodyPr>
            <a:lstStyle/>
            <a:p>
              <a:pPr algn="ctr" marL="0" indent="0" lvl="0">
                <a:lnSpc>
                  <a:spcPts val="5647"/>
                </a:lnSpc>
              </a:pPr>
              <a:r>
                <a:rPr lang="en-US" sz="5647" spc="903">
                  <a:solidFill>
                    <a:srgbClr val="EFE7DD"/>
                  </a:solidFill>
                  <a:latin typeface="Montserrat"/>
                  <a:ea typeface="Montserrat"/>
                  <a:cs typeface="Montserrat"/>
                  <a:sym typeface="Montserrat"/>
                </a:rPr>
                <a:t>1. DATABASE INTEGRATION</a:t>
              </a:r>
            </a:p>
            <a:p>
              <a:pPr algn="ctr" marL="0" indent="0" lvl="0">
                <a:lnSpc>
                  <a:spcPts val="5647"/>
                </a:lnSpc>
              </a:pPr>
              <a:r>
                <a:rPr lang="en-US" sz="5647" spc="903">
                  <a:solidFill>
                    <a:srgbClr val="EFE7DD"/>
                  </a:solidFill>
                  <a:latin typeface="Montserrat"/>
                  <a:ea typeface="Montserrat"/>
                  <a:cs typeface="Montserrat"/>
                  <a:sym typeface="Montserrat"/>
                </a:rPr>
                <a:t> 2. EXPAND CLASS HIERARCHY</a:t>
              </a:r>
            </a:p>
            <a:p>
              <a:pPr algn="ctr" marL="0" indent="0" lvl="0">
                <a:lnSpc>
                  <a:spcPts val="5647"/>
                </a:lnSpc>
              </a:pPr>
              <a:r>
                <a:rPr lang="en-US" sz="5647" spc="903">
                  <a:solidFill>
                    <a:srgbClr val="EFE7DD"/>
                  </a:solidFill>
                  <a:latin typeface="Montserrat"/>
                  <a:ea typeface="Montserrat"/>
                  <a:cs typeface="Montserrat"/>
                  <a:sym typeface="Montserrat"/>
                </a:rPr>
                <a:t>3. ADDITIONAL FEATURES</a:t>
              </a:r>
            </a:p>
            <a:p>
              <a:pPr algn="ctr" marL="0" indent="0" lvl="0">
                <a:lnSpc>
                  <a:spcPts val="5647"/>
                </a:lnSpc>
              </a:pPr>
              <a:r>
                <a:rPr lang="en-US" sz="5647" spc="903">
                  <a:solidFill>
                    <a:srgbClr val="EFE7DD"/>
                  </a:solidFill>
                  <a:latin typeface="Montserrat"/>
                  <a:ea typeface="Montserrat"/>
                  <a:cs typeface="Montserrat"/>
                  <a:sym typeface="Montserrat"/>
                </a:rPr>
                <a:t>4. GUI DEVELOPMENT</a:t>
              </a:r>
            </a:p>
          </p:txBody>
        </p:sp>
        <p:sp>
          <p:nvSpPr>
            <p:cNvPr name="TextBox 5" id="5"/>
            <p:cNvSpPr txBox="true"/>
            <p:nvPr/>
          </p:nvSpPr>
          <p:spPr>
            <a:xfrm rot="0">
              <a:off x="0" y="4234872"/>
              <a:ext cx="19069598" cy="858520"/>
            </a:xfrm>
            <a:prstGeom prst="rect">
              <a:avLst/>
            </a:prstGeom>
          </p:spPr>
          <p:txBody>
            <a:bodyPr anchor="t" rtlCol="false" tIns="0" lIns="0" bIns="0" rIns="0">
              <a:spAutoFit/>
            </a:bodyPr>
            <a:lstStyle/>
            <a:p>
              <a:pPr algn="ctr" marL="0" indent="0" lvl="0">
                <a:lnSpc>
                  <a:spcPts val="5459"/>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9B4922"/>
        </a:solidFill>
      </p:bgPr>
    </p:bg>
    <p:spTree>
      <p:nvGrpSpPr>
        <p:cNvPr id="1" name=""/>
        <p:cNvGrpSpPr/>
        <p:nvPr/>
      </p:nvGrpSpPr>
      <p:grpSpPr>
        <a:xfrm>
          <a:off x="0" y="0"/>
          <a:ext cx="0" cy="0"/>
          <a:chOff x="0" y="0"/>
          <a:chExt cx="0" cy="0"/>
        </a:xfrm>
      </p:grpSpPr>
      <p:grpSp>
        <p:nvGrpSpPr>
          <p:cNvPr name="Group 2" id="2"/>
          <p:cNvGrpSpPr/>
          <p:nvPr/>
        </p:nvGrpSpPr>
        <p:grpSpPr>
          <a:xfrm rot="0">
            <a:off x="3396193" y="1948953"/>
            <a:ext cx="12741423" cy="6389094"/>
            <a:chOff x="0" y="0"/>
            <a:chExt cx="16988563" cy="8518791"/>
          </a:xfrm>
        </p:grpSpPr>
        <p:sp>
          <p:nvSpPr>
            <p:cNvPr name="TextBox 3" id="3"/>
            <p:cNvSpPr txBox="true"/>
            <p:nvPr/>
          </p:nvSpPr>
          <p:spPr>
            <a:xfrm rot="0">
              <a:off x="0" y="1952469"/>
              <a:ext cx="16988563" cy="6566323"/>
            </a:xfrm>
            <a:prstGeom prst="rect">
              <a:avLst/>
            </a:prstGeom>
          </p:spPr>
          <p:txBody>
            <a:bodyPr anchor="t" rtlCol="false" tIns="0" lIns="0" bIns="0" rIns="0">
              <a:spAutoFit/>
            </a:bodyPr>
            <a:lstStyle/>
            <a:p>
              <a:pPr algn="l" marL="0" indent="0" lvl="0">
                <a:lnSpc>
                  <a:spcPts val="3920"/>
                </a:lnSpc>
                <a:spcBef>
                  <a:spcPct val="0"/>
                </a:spcBef>
              </a:pPr>
              <a:r>
                <a:rPr lang="en-US" sz="2800">
                  <a:solidFill>
                    <a:srgbClr val="EFE7DD"/>
                  </a:solidFill>
                  <a:latin typeface="Sorts Mill Goudy"/>
                  <a:ea typeface="Sorts Mill Goudy"/>
                  <a:cs typeface="Sorts Mill Goudy"/>
                  <a:sym typeface="Sorts Mill Goudy"/>
                </a:rPr>
                <a:t>The development of the Inventory Management System (IMS) using JavaFX demonstrates the practical application of object-oriented programming, UI design, and database integration in solving real-world business problems. This project effectively showcases how desktop-based inventory systems can be designed with modern interfaces and modular architecture, offering an accessible solution for small to medium-scale enterprises.</a:t>
              </a:r>
            </a:p>
            <a:p>
              <a:pPr algn="l" marL="0" indent="0" lvl="0">
                <a:lnSpc>
                  <a:spcPts val="3920"/>
                </a:lnSpc>
                <a:spcBef>
                  <a:spcPct val="0"/>
                </a:spcBef>
              </a:pPr>
              <a:r>
                <a:rPr lang="en-US" sz="2800">
                  <a:solidFill>
                    <a:srgbClr val="EFE7DD"/>
                  </a:solidFill>
                  <a:latin typeface="Sorts Mill Goudy"/>
                  <a:ea typeface="Sorts Mill Goudy"/>
                  <a:cs typeface="Sorts Mill Goudy"/>
                  <a:sym typeface="Sorts Mill Goudy"/>
                </a:rPr>
                <a:t>The system’s role-based access (admin, supplier, user), CRUD functionality, and database-driven design make it a reliable tool for managing inventory operations. JavaFX provided a flexible and responsive UI framework, while the use of DAOs and MVC pattern ensured maintainability and separation of concerns.</a:t>
              </a:r>
            </a:p>
          </p:txBody>
        </p:sp>
        <p:sp>
          <p:nvSpPr>
            <p:cNvPr name="TextBox 4" id="4"/>
            <p:cNvSpPr txBox="true"/>
            <p:nvPr/>
          </p:nvSpPr>
          <p:spPr>
            <a:xfrm rot="0">
              <a:off x="0" y="95250"/>
              <a:ext cx="16988563" cy="1018505"/>
            </a:xfrm>
            <a:prstGeom prst="rect">
              <a:avLst/>
            </a:prstGeom>
          </p:spPr>
          <p:txBody>
            <a:bodyPr anchor="t" rtlCol="false" tIns="0" lIns="0" bIns="0" rIns="0">
              <a:spAutoFit/>
            </a:bodyPr>
            <a:lstStyle/>
            <a:p>
              <a:pPr algn="l" marL="0" indent="0" lvl="0">
                <a:lnSpc>
                  <a:spcPts val="5511"/>
                </a:lnSpc>
              </a:pPr>
              <a:r>
                <a:rPr lang="en-US" sz="5511" spc="881">
                  <a:solidFill>
                    <a:srgbClr val="EFE7DD"/>
                  </a:solidFill>
                  <a:latin typeface="Montserrat"/>
                  <a:ea typeface="Montserrat"/>
                  <a:cs typeface="Montserrat"/>
                  <a:sym typeface="Montserrat"/>
                </a:rPr>
                <a:t>CONCLUSION &amp; KEY POINTS</a:t>
              </a:r>
            </a:p>
          </p:txBody>
        </p:sp>
      </p:grpSp>
      <p:sp>
        <p:nvSpPr>
          <p:cNvPr name="Freeform 5" id="5"/>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9B4922"/>
        </a:solidFill>
      </p:bgPr>
    </p:bg>
    <p:spTree>
      <p:nvGrpSpPr>
        <p:cNvPr id="1" name=""/>
        <p:cNvGrpSpPr/>
        <p:nvPr/>
      </p:nvGrpSpPr>
      <p:grpSpPr>
        <a:xfrm>
          <a:off x="0" y="0"/>
          <a:ext cx="0" cy="0"/>
          <a:chOff x="0" y="0"/>
          <a:chExt cx="0" cy="0"/>
        </a:xfrm>
      </p:grpSpPr>
      <p:grpSp>
        <p:nvGrpSpPr>
          <p:cNvPr name="Group 2" id="2"/>
          <p:cNvGrpSpPr/>
          <p:nvPr/>
        </p:nvGrpSpPr>
        <p:grpSpPr>
          <a:xfrm rot="0">
            <a:off x="360927" y="1856843"/>
            <a:ext cx="7710155" cy="7041832"/>
            <a:chOff x="0" y="0"/>
            <a:chExt cx="889941" cy="812800"/>
          </a:xfrm>
        </p:grpSpPr>
        <p:sp>
          <p:nvSpPr>
            <p:cNvPr name="Freeform 3" id="3"/>
            <p:cNvSpPr/>
            <p:nvPr/>
          </p:nvSpPr>
          <p:spPr>
            <a:xfrm flipH="false" flipV="false" rot="0">
              <a:off x="0" y="0"/>
              <a:ext cx="889941" cy="812800"/>
            </a:xfrm>
            <a:custGeom>
              <a:avLst/>
              <a:gdLst/>
              <a:ahLst/>
              <a:cxnLst/>
              <a:rect r="r" b="b" t="t" l="l"/>
              <a:pathLst>
                <a:path h="812800" w="889941">
                  <a:moveTo>
                    <a:pt x="0" y="0"/>
                  </a:moveTo>
                  <a:lnTo>
                    <a:pt x="889941" y="0"/>
                  </a:lnTo>
                  <a:lnTo>
                    <a:pt x="889941" y="812800"/>
                  </a:lnTo>
                  <a:lnTo>
                    <a:pt x="0" y="812800"/>
                  </a:lnTo>
                  <a:close/>
                </a:path>
              </a:pathLst>
            </a:custGeom>
            <a:blipFill>
              <a:blip r:embed="rId2"/>
              <a:stretch>
                <a:fillRect l="-3882" t="0" r="-3882" b="0"/>
              </a:stretch>
            </a:blipFill>
          </p:spPr>
        </p:sp>
      </p:grpSp>
      <p:sp>
        <p:nvSpPr>
          <p:cNvPr name="Freeform 4" id="4"/>
          <p:cNvSpPr/>
          <p:nvPr/>
        </p:nvSpPr>
        <p:spPr>
          <a:xfrm flipH="false" flipV="false" rot="0">
            <a:off x="9144000" y="1856843"/>
            <a:ext cx="8316171" cy="7173602"/>
          </a:xfrm>
          <a:custGeom>
            <a:avLst/>
            <a:gdLst/>
            <a:ahLst/>
            <a:cxnLst/>
            <a:rect r="r" b="b" t="t" l="l"/>
            <a:pathLst>
              <a:path h="7173602" w="8316171">
                <a:moveTo>
                  <a:pt x="0" y="0"/>
                </a:moveTo>
                <a:lnTo>
                  <a:pt x="8316171" y="0"/>
                </a:lnTo>
                <a:lnTo>
                  <a:pt x="8316171" y="7173601"/>
                </a:lnTo>
                <a:lnTo>
                  <a:pt x="0" y="7173601"/>
                </a:lnTo>
                <a:lnTo>
                  <a:pt x="0" y="0"/>
                </a:lnTo>
                <a:close/>
              </a:path>
            </a:pathLst>
          </a:custGeom>
          <a:blipFill>
            <a:blip r:embed="rId3"/>
            <a:stretch>
              <a:fillRect l="0" t="-2976" r="0" b="-2976"/>
            </a:stretch>
          </a:blipFill>
        </p:spPr>
      </p:sp>
      <p:sp>
        <p:nvSpPr>
          <p:cNvPr name="TextBox 5" id="5"/>
          <p:cNvSpPr txBox="true"/>
          <p:nvPr/>
        </p:nvSpPr>
        <p:spPr>
          <a:xfrm rot="0">
            <a:off x="652345" y="476250"/>
            <a:ext cx="10636792" cy="396240"/>
          </a:xfrm>
          <a:prstGeom prst="rect">
            <a:avLst/>
          </a:prstGeom>
        </p:spPr>
        <p:txBody>
          <a:bodyPr anchor="t" rtlCol="false" tIns="0" lIns="0" bIns="0" rIns="0">
            <a:spAutoFit/>
          </a:bodyPr>
          <a:lstStyle/>
          <a:p>
            <a:pPr algn="l" marL="0" indent="0" lvl="0">
              <a:lnSpc>
                <a:spcPts val="3359"/>
              </a:lnSpc>
              <a:spcBef>
                <a:spcPct val="0"/>
              </a:spcBef>
            </a:pPr>
            <a:r>
              <a:rPr lang="en-US" sz="2400" spc="384">
                <a:solidFill>
                  <a:srgbClr val="EFE7DD"/>
                </a:solidFill>
                <a:latin typeface="Montserrat"/>
                <a:ea typeface="Montserrat"/>
                <a:cs typeface="Montserrat"/>
                <a:sym typeface="Montserrat"/>
              </a:rPr>
              <a:t>USE CASE AND DATABASE DIAGRAM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DAGiF7txZrY</dc:identifier>
  <dcterms:modified xsi:type="dcterms:W3CDTF">2011-08-01T06:04:30Z</dcterms:modified>
  <cp:revision>1</cp:revision>
  <dc:title>INVENTORY MANAGEMENT SYSTEM</dc:title>
</cp:coreProperties>
</file>